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9EAD-7CEE-072B-6E7E-CAE1D70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B7EB9-EE6B-9D83-0B75-BC7A12BE7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3CB92-461B-0C78-7420-8902ACD4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4A961-C93D-6E5C-6D96-7ED89B02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1F36F-AE4D-91E1-5A10-A33527A7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5865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F98A-2346-80FC-F9A9-1A0CA881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FDD7F-3001-E931-229A-48BF9940C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7FD1D-6547-D4D9-D591-F4AFFDDC0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5F8EC-5923-C474-0793-2DB16ABE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10D15-EC50-0B5F-7314-04475D3F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802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A606-2C68-C696-5BE4-DF9B89EA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3B71C-0D3F-22B8-3003-EC08B772D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8F13B-D7F9-5052-60D2-E3575852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0FC4B-8720-7207-B5EA-AC0475645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085EE-A9E8-FFD4-6A72-3F366D75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840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D5BB4-9801-83F4-E565-FE4C3D21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F9412-1870-86B6-C333-B927F6056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1175D-4BF4-4C57-4345-161005D34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9F6EF-1B44-CF5F-468E-B3B1A9385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2AEFB-EBBA-2B7B-D4F5-E2479E07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CAE44-57AB-DBC1-DCF2-23500DFD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5100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67F3-731D-059E-0503-8D904B6F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322F8-00C9-ECD5-20D8-3A4958959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9A802-DC09-161F-60E6-D45FB76CC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F1422-D0CD-08DE-4639-35BD8B8C2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5380CB-A52F-9BF5-6200-CAEAA9926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3947EB-B17D-56F8-1949-BDB05CCA9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4B853-2FFC-F6D5-F72E-D3A597B1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F97EA2-EF66-298C-C367-F44ED36C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334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3DE36-5E69-787A-5156-3A003945E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40A6D-8436-7D63-3B8F-B0FC3AD3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8236E-F194-610E-A298-0E9C4636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349C1-F148-F8FD-D57D-3CB4E6EB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400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102AB-60A4-1EF2-4881-A715DBD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87A66-6A2B-3F88-870E-EC66AE56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97463-B12D-26A0-61F1-30EA97E7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2027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12BE-4859-2D15-A637-3B6AAD79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51A27-1FD0-D437-89B0-D2790C4CE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66C92-4236-E60B-15E8-F03374ABA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8CD1B-9140-2FBD-06BD-35393190E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4F6E8-0211-D1A1-535C-4B6408C3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C9D93-915C-E52E-5F47-18364684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826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3C46-9914-F16B-3E7C-DBC52BA24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AFDF62-815D-3E73-2159-6BAE14670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B09B1-EFFE-15B6-733B-F7147F95F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8E5E0-C5CA-A8FC-CDE0-8E2BCE6A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4F4AF-F7FE-EBD7-BA1D-1F74917C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1130A-0723-C96C-6A10-8057A5C5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455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B7B9-05C2-ECAF-2DC1-B05D91CE7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9CF01-7DC8-DD31-9CA0-2DADF6E11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58D37-7D91-AE40-29E7-D1577784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7532B-CB10-2D44-7C82-0B0EE0FE0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474C4-3C73-E13F-05B7-D645F158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972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AA12B0-8334-EBA0-CB96-16768CD1CB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9763F-53E9-E0FC-4F99-BC20A6D5E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56578-2077-DEA8-AFE9-3B3B68ED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BC6FA-06D1-6D92-F2E2-075FCFA8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93A36-4109-2AA9-912E-E388B40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290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8FA95-E134-3D57-98FD-141B46866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1C426-AEB1-D36E-D811-267265BB6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E9993-8308-2F53-ECB4-DE848290D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8342F-8984-4C7C-809A-690DD0574D67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B9DEA-D90C-4F4C-FFAF-431C86E3C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1805D-BD50-0CAF-DA43-D48605864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E31A5E-6A33-4735-BD17-0C6D213760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696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53C10B-3A29-EE97-1EB6-83CF76D1C4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C99374-87F8-959A-CFDD-1EF0F0F63505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CC270F-F7F9-A864-F6A4-E85AB769E5B4}"/>
              </a:ext>
            </a:extLst>
          </p:cNvPr>
          <p:cNvSpPr/>
          <p:nvPr/>
        </p:nvSpPr>
        <p:spPr>
          <a:xfrm>
            <a:off x="7874000" y="0"/>
            <a:ext cx="4318000" cy="6858000"/>
          </a:xfrm>
          <a:prstGeom prst="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2FF0DA-97A2-4BC6-4FD8-38C0B731AB9A}"/>
              </a:ext>
            </a:extLst>
          </p:cNvPr>
          <p:cNvSpPr/>
          <p:nvPr/>
        </p:nvSpPr>
        <p:spPr>
          <a:xfrm>
            <a:off x="8445500" y="1079500"/>
            <a:ext cx="2413000" cy="2413000"/>
          </a:xfrm>
          <a:prstGeom prst="round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EE32CD-C5EE-1698-25B6-CACE8E66F773}"/>
              </a:ext>
            </a:extLst>
          </p:cNvPr>
          <p:cNvSpPr txBox="1"/>
          <p:nvPr/>
        </p:nvSpPr>
        <p:spPr>
          <a:xfrm>
            <a:off x="8445500" y="1320800"/>
            <a:ext cx="2413000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9600" b="1">
                <a:solidFill>
                  <a:srgbClr val="F7FBFC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5CDD8-315E-507B-E243-0DEF79BC6A34}"/>
              </a:ext>
            </a:extLst>
          </p:cNvPr>
          <p:cNvSpPr txBox="1"/>
          <p:nvPr/>
        </p:nvSpPr>
        <p:spPr>
          <a:xfrm>
            <a:off x="698500" y="889000"/>
            <a:ext cx="635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300" b="1">
                <a:solidFill>
                  <a:srgbClr val="20D0B2"/>
                </a:solidFill>
                <a:latin typeface="Aptos" panose="020B0004020202020204" pitchFamily="34" charset="0"/>
              </a:rPr>
              <a:t>HITITFINLEX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F96380-EB06-0063-F416-D57CC9BA6E8C}"/>
              </a:ext>
            </a:extLst>
          </p:cNvPr>
          <p:cNvSpPr txBox="1"/>
          <p:nvPr/>
        </p:nvSpPr>
        <p:spPr>
          <a:xfrm>
            <a:off x="698500" y="1371600"/>
            <a:ext cx="6731000" cy="12003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900" b="1">
                <a:solidFill>
                  <a:srgbClr val="F7FBFC"/>
                </a:solidFill>
                <a:latin typeface="Aptos" panose="020B0004020202020204" pitchFamily="34" charset="0"/>
              </a:rPr>
              <a:t>Katılım finansı için
kaynaklı karar desteği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C4A1DB-A186-644B-BB37-8F49210A3E57}"/>
              </a:ext>
            </a:extLst>
          </p:cNvPr>
          <p:cNvSpPr txBox="1"/>
          <p:nvPr/>
        </p:nvSpPr>
        <p:spPr>
          <a:xfrm>
            <a:off x="698500" y="3302000"/>
            <a:ext cx="6350000" cy="541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tr-TR" sz="1700">
                <a:solidFill>
                  <a:srgbClr val="A9C1CB"/>
                </a:solidFill>
                <a:latin typeface="Aptos" panose="020B0004020202020204" pitchFamily="34" charset="0"/>
              </a:rPr>
              <a:t>Güncel ve tarihsel banka ürünlerini keşfedin, karşılaştırın ve her sonucu resmî kaynağına kadar izleyin.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499451-AD25-0206-1D99-4C7F4BE5006A}"/>
              </a:ext>
            </a:extLst>
          </p:cNvPr>
          <p:cNvSpPr txBox="1"/>
          <p:nvPr/>
        </p:nvSpPr>
        <p:spPr>
          <a:xfrm>
            <a:off x="698500" y="45085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200" b="1">
                <a:solidFill>
                  <a:srgbClr val="75E6D2"/>
                </a:solidFill>
                <a:latin typeface="Aptos" panose="020B0004020202020204" pitchFamily="34" charset="0"/>
              </a:rPr>
              <a:t>TEKNOFEST 2026 · Yapay Zekâ Dil Ajanları · 2. Senaryo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2F0DF-3492-6DBE-1145-0D3113688AFC}"/>
              </a:ext>
            </a:extLst>
          </p:cNvPr>
          <p:cNvSpPr txBox="1"/>
          <p:nvPr/>
        </p:nvSpPr>
        <p:spPr>
          <a:xfrm>
            <a:off x="698500" y="4953000"/>
            <a:ext cx="660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Emre Deniz · Doğukan Ayas · Tuğba Melisa Güngör Kurnaz · Abdulkadir İpek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A44D73-9734-0927-D037-7B400E4C0ED2}"/>
              </a:ext>
            </a:extLst>
          </p:cNvPr>
          <p:cNvSpPr txBox="1"/>
          <p:nvPr/>
        </p:nvSpPr>
        <p:spPr>
          <a:xfrm>
            <a:off x="8445500" y="51435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300" b="1">
                <a:solidFill>
                  <a:srgbClr val="F7FBFC"/>
                </a:solidFill>
                <a:latin typeface="Aptos" panose="020B0004020202020204" pitchFamily="34" charset="0"/>
              </a:rPr>
              <a:t>#BilisimVadisi2026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FEF327-0236-16FE-1479-498B0BB6F711}"/>
              </a:ext>
            </a:extLst>
          </p:cNvPr>
          <p:cNvSpPr txBox="1"/>
          <p:nvPr/>
        </p:nvSpPr>
        <p:spPr>
          <a:xfrm>
            <a:off x="11264900" y="6350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000" b="1">
                <a:solidFill>
                  <a:srgbClr val="071B2D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25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D1C3A1-1A3D-3894-907B-B513BA9897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8B42B-FC8D-DEAA-95EC-0EF7891997E3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578747-59FF-6254-184D-62F350612328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PROBLEM VE FıRSAT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8BB77-1F74-0A83-E419-DA3D125D9B25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000" b="1">
                <a:solidFill>
                  <a:srgbClr val="F7FBFC"/>
                </a:solidFill>
                <a:latin typeface="Aptos" panose="020B0004020202020204" pitchFamily="34" charset="0"/>
              </a:rPr>
              <a:t>Dağınık bilgi, zor karşılaştırma, zayıf izlenebilirlik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45B93-BB5B-6228-A024-8B8A874C752F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Katılım bankacılığı ürün koşulları farklı sayfalarda, farklı anlatımlarda ve zaman içinde değişerek yayımlanıyor.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CB622-DB75-623F-9349-8866817AE550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065419-AE29-4EE8-B486-88DFB879FD39}"/>
              </a:ext>
            </a:extLst>
          </p:cNvPr>
          <p:cNvSpPr/>
          <p:nvPr/>
        </p:nvSpPr>
        <p:spPr>
          <a:xfrm>
            <a:off x="609600" y="2095500"/>
            <a:ext cx="3429000" cy="2667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6FD2C5-A7A9-F8D3-2E1A-172187B184CD}"/>
              </a:ext>
            </a:extLst>
          </p:cNvPr>
          <p:cNvSpPr/>
          <p:nvPr/>
        </p:nvSpPr>
        <p:spPr>
          <a:xfrm>
            <a:off x="838200" y="2324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8F31B4-65C2-2631-64C2-59EE0E58B497}"/>
              </a:ext>
            </a:extLst>
          </p:cNvPr>
          <p:cNvSpPr txBox="1"/>
          <p:nvPr/>
        </p:nvSpPr>
        <p:spPr>
          <a:xfrm>
            <a:off x="838200" y="2413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E4223C-290C-E1F7-A1B9-591D1587E854}"/>
              </a:ext>
            </a:extLst>
          </p:cNvPr>
          <p:cNvSpPr txBox="1"/>
          <p:nvPr/>
        </p:nvSpPr>
        <p:spPr>
          <a:xfrm>
            <a:off x="1447800" y="2324100"/>
            <a:ext cx="2362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Parçalı kaynaklar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EA6712-F4D6-3A9D-668F-5BAEDA2369E7}"/>
              </a:ext>
            </a:extLst>
          </p:cNvPr>
          <p:cNvSpPr txBox="1"/>
          <p:nvPr/>
        </p:nvSpPr>
        <p:spPr>
          <a:xfrm>
            <a:off x="838200" y="2882900"/>
            <a:ext cx="2971800" cy="590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Kampanya, finansman ve hesap koşulları bankaların farklı sayfalarına dağılmış durumda.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95C36E-F2C6-12FB-C23E-1A44B2EB667E}"/>
              </a:ext>
            </a:extLst>
          </p:cNvPr>
          <p:cNvSpPr/>
          <p:nvPr/>
        </p:nvSpPr>
        <p:spPr>
          <a:xfrm>
            <a:off x="4381500" y="2095500"/>
            <a:ext cx="3429000" cy="2667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4C9500-FE92-ECF7-D32C-974E6ECE20F4}"/>
              </a:ext>
            </a:extLst>
          </p:cNvPr>
          <p:cNvSpPr/>
          <p:nvPr/>
        </p:nvSpPr>
        <p:spPr>
          <a:xfrm>
            <a:off x="4610100" y="2324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68AFDA-3CF6-4768-9182-52FF05BFE3DF}"/>
              </a:ext>
            </a:extLst>
          </p:cNvPr>
          <p:cNvSpPr txBox="1"/>
          <p:nvPr/>
        </p:nvSpPr>
        <p:spPr>
          <a:xfrm>
            <a:off x="4610100" y="2413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1D5CE5-9796-1AA9-FDE7-611790A5693E}"/>
              </a:ext>
            </a:extLst>
          </p:cNvPr>
          <p:cNvSpPr txBox="1"/>
          <p:nvPr/>
        </p:nvSpPr>
        <p:spPr>
          <a:xfrm>
            <a:off x="5219700" y="2324100"/>
            <a:ext cx="2362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Standart olmayan dil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E18260-6B27-FD6A-C9B6-6A6917BA3EF5}"/>
              </a:ext>
            </a:extLst>
          </p:cNvPr>
          <p:cNvSpPr txBox="1"/>
          <p:nvPr/>
        </p:nvSpPr>
        <p:spPr>
          <a:xfrm>
            <a:off x="4610100" y="2882900"/>
            <a:ext cx="29718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Tutar, vade, oran, ücret ve ödül bilgileri aynı anlamı taşısa da farklı biçimlerde yazılıyor.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0FCF93-54AF-1DFB-8E0E-E39CA3B3D6E1}"/>
              </a:ext>
            </a:extLst>
          </p:cNvPr>
          <p:cNvSpPr/>
          <p:nvPr/>
        </p:nvSpPr>
        <p:spPr>
          <a:xfrm>
            <a:off x="8153400" y="2095500"/>
            <a:ext cx="3429000" cy="2667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BC4DC47-6B9E-A7F0-81B4-2CCD50848A35}"/>
              </a:ext>
            </a:extLst>
          </p:cNvPr>
          <p:cNvSpPr/>
          <p:nvPr/>
        </p:nvSpPr>
        <p:spPr>
          <a:xfrm>
            <a:off x="8382000" y="2324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D19195-45E0-1282-C401-AB18BC4F8041}"/>
              </a:ext>
            </a:extLst>
          </p:cNvPr>
          <p:cNvSpPr txBox="1"/>
          <p:nvPr/>
        </p:nvSpPr>
        <p:spPr>
          <a:xfrm>
            <a:off x="8382000" y="2413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081B10-CCF6-00A8-0FD9-296374079C6E}"/>
              </a:ext>
            </a:extLst>
          </p:cNvPr>
          <p:cNvSpPr txBox="1"/>
          <p:nvPr/>
        </p:nvSpPr>
        <p:spPr>
          <a:xfrm>
            <a:off x="8991600" y="2324100"/>
            <a:ext cx="2362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Kaynak ihtiyacı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DB9298-5A62-4FCB-7C73-D5F6068E8E95}"/>
              </a:ext>
            </a:extLst>
          </p:cNvPr>
          <p:cNvSpPr txBox="1"/>
          <p:nvPr/>
        </p:nvSpPr>
        <p:spPr>
          <a:xfrm>
            <a:off x="8382000" y="2882900"/>
            <a:ext cx="29718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Karar destek çıktısının hangi belge ve kanıt cümlesinden üretildiği açıkça görülebilmeli.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8236050-C728-9B45-FFF9-CE91A469E257}"/>
              </a:ext>
            </a:extLst>
          </p:cNvPr>
          <p:cNvSpPr/>
          <p:nvPr/>
        </p:nvSpPr>
        <p:spPr>
          <a:xfrm>
            <a:off x="609600" y="5080000"/>
            <a:ext cx="10972800" cy="10414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C95C21-F5CC-D6A3-E547-1E83D6E7E072}"/>
              </a:ext>
            </a:extLst>
          </p:cNvPr>
          <p:cNvSpPr txBox="1"/>
          <p:nvPr/>
        </p:nvSpPr>
        <p:spPr>
          <a:xfrm>
            <a:off x="914400" y="5346700"/>
            <a:ext cx="10363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600" b="1">
                <a:solidFill>
                  <a:srgbClr val="F7FBFC"/>
                </a:solidFill>
                <a:latin typeface="Aptos" panose="020B0004020202020204" pitchFamily="34" charset="0"/>
              </a:rPr>
              <a:t>Çözüm: güncel + tarihsel belgeleri tek veri katmanında birleştiren, finansal alanları yapılandıran ve her çıktıyı kaynakla sunan yerel bir NLP/RAG platformu.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090A22-2CA7-A40E-2881-FDF553A30D12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C1C287-A014-AFE3-1B7C-53260749DAB4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86BF3B-1C95-E8A5-7872-EAFFCD5295C7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190493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C6DFAA-8FB2-940A-0272-20892FA609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1F4B32-206B-88DF-CA6C-CCA13F2A5D66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016B8-E7AA-82CF-2939-649EEF40EB66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ÜRÜN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7A9C6-51F5-603A-EADE-2F40C6497D6F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n-NO" sz="3000" b="1">
                <a:solidFill>
                  <a:srgbClr val="F7FBFC"/>
                </a:solidFill>
                <a:latin typeface="Aptos" panose="020B0004020202020204" pitchFamily="34" charset="0"/>
              </a:rPr>
              <a:t>Tek platformda beş karar destek görünümü</a:t>
            </a:r>
            <a:endParaRPr lang="tr-TR" sz="3000" b="1">
              <a:solidFill>
                <a:srgbClr val="F7FBFC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EF013-68E1-F502-2DD0-A38CB94E09E9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Arama, karşılaştırma ve yapay zekâ çıktıları aynı kaynak ve kalite sözleşmesini paylaşır.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A51A0-6131-9BE8-857C-31FFAA9442F7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E82896-2DD3-F9BC-4857-447DB63747AC}"/>
              </a:ext>
            </a:extLst>
          </p:cNvPr>
          <p:cNvSpPr/>
          <p:nvPr/>
        </p:nvSpPr>
        <p:spPr>
          <a:xfrm>
            <a:off x="609600" y="1968500"/>
            <a:ext cx="3302000" cy="1905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770822-B963-1811-AB6A-9430ECB9E6A7}"/>
              </a:ext>
            </a:extLst>
          </p:cNvPr>
          <p:cNvSpPr/>
          <p:nvPr/>
        </p:nvSpPr>
        <p:spPr>
          <a:xfrm>
            <a:off x="838200" y="2197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724C0E-299A-23D4-7731-7B538A923F8D}"/>
              </a:ext>
            </a:extLst>
          </p:cNvPr>
          <p:cNvSpPr txBox="1"/>
          <p:nvPr/>
        </p:nvSpPr>
        <p:spPr>
          <a:xfrm>
            <a:off x="838200" y="2286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7C53AD-DDA6-859E-6078-FF503CCFAF95}"/>
              </a:ext>
            </a:extLst>
          </p:cNvPr>
          <p:cNvSpPr txBox="1"/>
          <p:nvPr/>
        </p:nvSpPr>
        <p:spPr>
          <a:xfrm>
            <a:off x="1447800" y="2197100"/>
            <a:ext cx="2235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Genel bakış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670199-3C64-A3BA-0F55-BCB9FA57F679}"/>
              </a:ext>
            </a:extLst>
          </p:cNvPr>
          <p:cNvSpPr txBox="1"/>
          <p:nvPr/>
        </p:nvSpPr>
        <p:spPr>
          <a:xfrm>
            <a:off x="838200" y="2755900"/>
            <a:ext cx="28448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Kapsam, banka, belge, çıkarım ve sistem hazırlık göstergeleri.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41EF6C-BCAE-4F7C-326E-3AF50034BA5A}"/>
              </a:ext>
            </a:extLst>
          </p:cNvPr>
          <p:cNvSpPr/>
          <p:nvPr/>
        </p:nvSpPr>
        <p:spPr>
          <a:xfrm>
            <a:off x="4140200" y="1968500"/>
            <a:ext cx="3302000" cy="1905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385E3B-DC2E-A584-B345-1EF957E01C8F}"/>
              </a:ext>
            </a:extLst>
          </p:cNvPr>
          <p:cNvSpPr/>
          <p:nvPr/>
        </p:nvSpPr>
        <p:spPr>
          <a:xfrm>
            <a:off x="4368800" y="2197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47456C-71A9-59B5-22BF-9EA52A30E934}"/>
              </a:ext>
            </a:extLst>
          </p:cNvPr>
          <p:cNvSpPr txBox="1"/>
          <p:nvPr/>
        </p:nvSpPr>
        <p:spPr>
          <a:xfrm>
            <a:off x="4368800" y="2286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F12053-5FB3-1446-4E0C-6510F6396C79}"/>
              </a:ext>
            </a:extLst>
          </p:cNvPr>
          <p:cNvSpPr txBox="1"/>
          <p:nvPr/>
        </p:nvSpPr>
        <p:spPr>
          <a:xfrm>
            <a:off x="4978400" y="2197100"/>
            <a:ext cx="2235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Akıllı katalog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7D421A-6CF3-C0C7-0E72-81B2145D06CB}"/>
              </a:ext>
            </a:extLst>
          </p:cNvPr>
          <p:cNvSpPr txBox="1"/>
          <p:nvPr/>
        </p:nvSpPr>
        <p:spPr>
          <a:xfrm>
            <a:off x="4368800" y="2755900"/>
            <a:ext cx="28448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Banka, ürün, tarih, güven ve bilgi kapsamı filtreleri.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3958EB1-6DB2-2BAD-CF1D-B315EC30DE13}"/>
              </a:ext>
            </a:extLst>
          </p:cNvPr>
          <p:cNvSpPr/>
          <p:nvPr/>
        </p:nvSpPr>
        <p:spPr>
          <a:xfrm>
            <a:off x="7670800" y="1968500"/>
            <a:ext cx="3911600" cy="1905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0F15460-6D4A-B5F2-9DAB-A8A680EB02D9}"/>
              </a:ext>
            </a:extLst>
          </p:cNvPr>
          <p:cNvSpPr/>
          <p:nvPr/>
        </p:nvSpPr>
        <p:spPr>
          <a:xfrm>
            <a:off x="7899400" y="2197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BB112D-0EBE-BD30-0A76-3FBDB3D9C49F}"/>
              </a:ext>
            </a:extLst>
          </p:cNvPr>
          <p:cNvSpPr txBox="1"/>
          <p:nvPr/>
        </p:nvSpPr>
        <p:spPr>
          <a:xfrm>
            <a:off x="7899400" y="2286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CD3893-58FE-F93E-B273-EA977D3B8476}"/>
              </a:ext>
            </a:extLst>
          </p:cNvPr>
          <p:cNvSpPr txBox="1"/>
          <p:nvPr/>
        </p:nvSpPr>
        <p:spPr>
          <a:xfrm>
            <a:off x="8509000" y="2197100"/>
            <a:ext cx="2844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Karşılaştırma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FB3A45-816A-EE0F-2344-1DC85CBFDA91}"/>
              </a:ext>
            </a:extLst>
          </p:cNvPr>
          <p:cNvSpPr txBox="1"/>
          <p:nvPr/>
        </p:nvSpPr>
        <p:spPr>
          <a:xfrm>
            <a:off x="7899400" y="2755900"/>
            <a:ext cx="34544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Banka koşullarını kanıt ve güven bilgisiyle yan yana sunan matris.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1DAFACF-BFF0-019E-5C76-3015DF767C33}"/>
              </a:ext>
            </a:extLst>
          </p:cNvPr>
          <p:cNvSpPr/>
          <p:nvPr/>
        </p:nvSpPr>
        <p:spPr>
          <a:xfrm>
            <a:off x="609600" y="4127500"/>
            <a:ext cx="5067300" cy="1905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F4A01F7-F784-ACE0-D50F-8E4E9BFFDBA0}"/>
              </a:ext>
            </a:extLst>
          </p:cNvPr>
          <p:cNvSpPr/>
          <p:nvPr/>
        </p:nvSpPr>
        <p:spPr>
          <a:xfrm>
            <a:off x="838200" y="4356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CEB418-50B6-9F57-1435-27295B7CA08F}"/>
              </a:ext>
            </a:extLst>
          </p:cNvPr>
          <p:cNvSpPr txBox="1"/>
          <p:nvPr/>
        </p:nvSpPr>
        <p:spPr>
          <a:xfrm>
            <a:off x="838200" y="4445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9752DD-8233-3842-3B89-7FF1919D1E29}"/>
              </a:ext>
            </a:extLst>
          </p:cNvPr>
          <p:cNvSpPr txBox="1"/>
          <p:nvPr/>
        </p:nvSpPr>
        <p:spPr>
          <a:xfrm>
            <a:off x="1447800" y="4356100"/>
            <a:ext cx="4000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Kaynaklı asistan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20D6EC-026F-91AD-5F5A-9F6CCC241DCF}"/>
              </a:ext>
            </a:extLst>
          </p:cNvPr>
          <p:cNvSpPr txBox="1"/>
          <p:nvPr/>
        </p:nvSpPr>
        <p:spPr>
          <a:xfrm>
            <a:off x="838200" y="4914900"/>
            <a:ext cx="4610100" cy="1921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BGE-M3 hibrit arama + yerel Qwen ile dipnotlu yanıt.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0D592D2-C77F-41EF-F87B-CE7A6CD6F3D1}"/>
              </a:ext>
            </a:extLst>
          </p:cNvPr>
          <p:cNvSpPr/>
          <p:nvPr/>
        </p:nvSpPr>
        <p:spPr>
          <a:xfrm>
            <a:off x="5905500" y="4127500"/>
            <a:ext cx="5676900" cy="1905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68893E-850A-5BDE-4E3F-B1046A6E9B91}"/>
              </a:ext>
            </a:extLst>
          </p:cNvPr>
          <p:cNvSpPr/>
          <p:nvPr/>
        </p:nvSpPr>
        <p:spPr>
          <a:xfrm>
            <a:off x="6134100" y="4356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081986-4528-0E4F-D4E8-8538FFEBDDF4}"/>
              </a:ext>
            </a:extLst>
          </p:cNvPr>
          <p:cNvSpPr txBox="1"/>
          <p:nvPr/>
        </p:nvSpPr>
        <p:spPr>
          <a:xfrm>
            <a:off x="6134100" y="4445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3FE393-317E-40DC-6AEC-D45A672F0455}"/>
              </a:ext>
            </a:extLst>
          </p:cNvPr>
          <p:cNvSpPr txBox="1"/>
          <p:nvPr/>
        </p:nvSpPr>
        <p:spPr>
          <a:xfrm>
            <a:off x="6743700" y="4356100"/>
            <a:ext cx="46101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Veri kalitesi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DB7F0D-C2D9-9435-0978-AFB8ACC6AC54}"/>
              </a:ext>
            </a:extLst>
          </p:cNvPr>
          <p:cNvSpPr txBox="1"/>
          <p:nvPr/>
        </p:nvSpPr>
        <p:spPr>
          <a:xfrm>
            <a:off x="6134100" y="4914900"/>
            <a:ext cx="5219700" cy="1921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Silver/model çıkarımı, güven, kapsam ve insan inceleme kuyruğu.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15EA26-F42B-339E-9786-F5FD0AC91835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7C6AFA-B299-CBA5-47D1-748E93FC94FC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63D028-2308-8B5F-6F07-F44E0F8BDD47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77653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580122-7444-127E-1B0B-9B0185B533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AC42B-41ED-D20B-58C3-FC9615170A3B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55BF2-701E-D01C-B2F9-9BF8995D9ED8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MIMARI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74488-0C9C-DDEB-0F0C-F79B86B104F8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000" b="1">
                <a:solidFill>
                  <a:srgbClr val="F7FBFC"/>
                </a:solidFill>
                <a:latin typeface="Aptos" panose="020B0004020202020204" pitchFamily="34" charset="0"/>
              </a:rPr>
              <a:t>Kaynak metinden açıklanabilir yanıta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D8409-DCCC-AA30-86A1-677EB93C8DF6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Bulut LLM bağımlılığı olmayan, PostgreSQL ve yerel modeller üzerinde çalışan uçtan uca akış.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F9EF0-EB19-E1C9-C946-D8A90C673B1D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DEC39F-E361-B693-A295-A578051E3FC4}"/>
              </a:ext>
            </a:extLst>
          </p:cNvPr>
          <p:cNvSpPr/>
          <p:nvPr/>
        </p:nvSpPr>
        <p:spPr>
          <a:xfrm>
            <a:off x="609600" y="2413000"/>
            <a:ext cx="1905000" cy="1270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A909B-31F7-9047-B2D3-907143B93083}"/>
              </a:ext>
            </a:extLst>
          </p:cNvPr>
          <p:cNvSpPr txBox="1"/>
          <p:nvPr/>
        </p:nvSpPr>
        <p:spPr>
          <a:xfrm>
            <a:off x="787400" y="2641600"/>
            <a:ext cx="154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500" b="1">
                <a:solidFill>
                  <a:srgbClr val="F7FBFC"/>
                </a:solidFill>
                <a:latin typeface="Aptos" panose="020B0004020202020204" pitchFamily="34" charset="0"/>
              </a:rPr>
              <a:t>Resmî kaynaklar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DBE59-A72E-522F-8767-2A2AF9333B4A}"/>
              </a:ext>
            </a:extLst>
          </p:cNvPr>
          <p:cNvSpPr txBox="1"/>
          <p:nvPr/>
        </p:nvSpPr>
        <p:spPr>
          <a:xfrm>
            <a:off x="787400" y="3035300"/>
            <a:ext cx="154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Banka siteleri + Internet Archive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FBDF00-FE4B-A843-B94F-D3E6ACF02F8D}"/>
              </a:ext>
            </a:extLst>
          </p:cNvPr>
          <p:cNvCxnSpPr/>
          <p:nvPr/>
        </p:nvCxnSpPr>
        <p:spPr>
          <a:xfrm>
            <a:off x="2514600" y="3048000"/>
            <a:ext cx="304800" cy="0"/>
          </a:xfrm>
          <a:prstGeom prst="straightConnector1">
            <a:avLst/>
          </a:prstGeom>
          <a:ln w="25400">
            <a:solidFill>
              <a:srgbClr val="20D0B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A90E19-18E6-DF2A-643D-BF269DE1188F}"/>
              </a:ext>
            </a:extLst>
          </p:cNvPr>
          <p:cNvSpPr/>
          <p:nvPr/>
        </p:nvSpPr>
        <p:spPr>
          <a:xfrm>
            <a:off x="2819400" y="2413000"/>
            <a:ext cx="1905000" cy="1270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623C4-EBA5-90B8-B3B0-48299D456D9A}"/>
              </a:ext>
            </a:extLst>
          </p:cNvPr>
          <p:cNvSpPr txBox="1"/>
          <p:nvPr/>
        </p:nvSpPr>
        <p:spPr>
          <a:xfrm>
            <a:off x="2997200" y="2641600"/>
            <a:ext cx="154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500" b="1">
                <a:solidFill>
                  <a:srgbClr val="F7FBFC"/>
                </a:solidFill>
                <a:latin typeface="Aptos" panose="020B0004020202020204" pitchFamily="34" charset="0"/>
              </a:rPr>
              <a:t>NLP hattı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C9AA2D-3537-EB31-10A5-AB54C48E1A6C}"/>
              </a:ext>
            </a:extLst>
          </p:cNvPr>
          <p:cNvSpPr txBox="1"/>
          <p:nvPr/>
        </p:nvSpPr>
        <p:spPr>
          <a:xfrm>
            <a:off x="2997200" y="3035300"/>
            <a:ext cx="154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9C1CB"/>
                </a:solidFill>
                <a:latin typeface="Aptos" panose="020B0004020202020204" pitchFamily="34" charset="0"/>
              </a:rPr>
              <a:t>BERT sınıflandırma + NER + bağlam kuralları</a:t>
            </a:r>
            <a:endParaRPr lang="tr-TR" sz="1000">
              <a:solidFill>
                <a:srgbClr val="A9C1CB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8F9EB4-F95B-0C5E-042A-E7B7146AA89F}"/>
              </a:ext>
            </a:extLst>
          </p:cNvPr>
          <p:cNvCxnSpPr/>
          <p:nvPr/>
        </p:nvCxnSpPr>
        <p:spPr>
          <a:xfrm>
            <a:off x="4724400" y="3048000"/>
            <a:ext cx="304800" cy="0"/>
          </a:xfrm>
          <a:prstGeom prst="straightConnector1">
            <a:avLst/>
          </a:prstGeom>
          <a:ln w="25400">
            <a:solidFill>
              <a:srgbClr val="20D0B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F51D70-452F-14C0-5883-E59C9E5B84DB}"/>
              </a:ext>
            </a:extLst>
          </p:cNvPr>
          <p:cNvSpPr/>
          <p:nvPr/>
        </p:nvSpPr>
        <p:spPr>
          <a:xfrm>
            <a:off x="5029200" y="2413000"/>
            <a:ext cx="1905000" cy="1270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81B10D-0025-5B98-7D3F-06B39CCE3846}"/>
              </a:ext>
            </a:extLst>
          </p:cNvPr>
          <p:cNvSpPr txBox="1"/>
          <p:nvPr/>
        </p:nvSpPr>
        <p:spPr>
          <a:xfrm>
            <a:off x="5207000" y="2641600"/>
            <a:ext cx="154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500" b="1">
                <a:solidFill>
                  <a:srgbClr val="F7FBFC"/>
                </a:solidFill>
                <a:latin typeface="Aptos" panose="020B0004020202020204" pitchFamily="34" charset="0"/>
              </a:rPr>
              <a:t>Veri katmanı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1A5D10-4339-5282-478B-5029BF6CA017}"/>
              </a:ext>
            </a:extLst>
          </p:cNvPr>
          <p:cNvSpPr txBox="1"/>
          <p:nvPr/>
        </p:nvSpPr>
        <p:spPr>
          <a:xfrm>
            <a:off x="5207000" y="3035300"/>
            <a:ext cx="154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PostgreSQL 18 + pgvector + tarihsel arşiv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562511-33D2-FBDC-A40B-01EFDC2A9E7F}"/>
              </a:ext>
            </a:extLst>
          </p:cNvPr>
          <p:cNvCxnSpPr/>
          <p:nvPr/>
        </p:nvCxnSpPr>
        <p:spPr>
          <a:xfrm>
            <a:off x="6934200" y="3048000"/>
            <a:ext cx="304800" cy="0"/>
          </a:xfrm>
          <a:prstGeom prst="straightConnector1">
            <a:avLst/>
          </a:prstGeom>
          <a:ln w="25400">
            <a:solidFill>
              <a:srgbClr val="20D0B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222BE48-29F0-5B3B-2CAB-CF01DE6C1CCB}"/>
              </a:ext>
            </a:extLst>
          </p:cNvPr>
          <p:cNvSpPr/>
          <p:nvPr/>
        </p:nvSpPr>
        <p:spPr>
          <a:xfrm>
            <a:off x="7239000" y="2413000"/>
            <a:ext cx="1905000" cy="1270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BDAA9A-7906-A3A4-AA8A-A6557C2AECA0}"/>
              </a:ext>
            </a:extLst>
          </p:cNvPr>
          <p:cNvSpPr txBox="1"/>
          <p:nvPr/>
        </p:nvSpPr>
        <p:spPr>
          <a:xfrm>
            <a:off x="7416800" y="2641600"/>
            <a:ext cx="154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500" b="1">
                <a:solidFill>
                  <a:srgbClr val="F7FBFC"/>
                </a:solidFill>
                <a:latin typeface="Aptos" panose="020B0004020202020204" pitchFamily="34" charset="0"/>
              </a:rPr>
              <a:t>RAG ve API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E5820F-5CEE-DEF0-B0DC-3D6F1AC02973}"/>
              </a:ext>
            </a:extLst>
          </p:cNvPr>
          <p:cNvSpPr txBox="1"/>
          <p:nvPr/>
        </p:nvSpPr>
        <p:spPr>
          <a:xfrm>
            <a:off x="7416800" y="3035300"/>
            <a:ext cx="154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BGE-M3 arama + Qwen + FastAPI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7CBA0A-6AC4-2D3B-FCE1-833095F3E2F8}"/>
              </a:ext>
            </a:extLst>
          </p:cNvPr>
          <p:cNvCxnSpPr/>
          <p:nvPr/>
        </p:nvCxnSpPr>
        <p:spPr>
          <a:xfrm>
            <a:off x="9144000" y="3048000"/>
            <a:ext cx="304800" cy="0"/>
          </a:xfrm>
          <a:prstGeom prst="straightConnector1">
            <a:avLst/>
          </a:prstGeom>
          <a:ln w="25400">
            <a:solidFill>
              <a:srgbClr val="20D0B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3A99BB-4C60-FA77-9194-8AC2F1989685}"/>
              </a:ext>
            </a:extLst>
          </p:cNvPr>
          <p:cNvSpPr/>
          <p:nvPr/>
        </p:nvSpPr>
        <p:spPr>
          <a:xfrm>
            <a:off x="9448800" y="2413000"/>
            <a:ext cx="2133600" cy="1270000"/>
          </a:xfrm>
          <a:prstGeom prst="roundRect">
            <a:avLst/>
          </a:prstGeom>
          <a:solidFill>
            <a:srgbClr val="0E9F8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00A5F2-C27B-ED82-4E8D-3DAFDB6AA0CB}"/>
              </a:ext>
            </a:extLst>
          </p:cNvPr>
          <p:cNvSpPr txBox="1"/>
          <p:nvPr/>
        </p:nvSpPr>
        <p:spPr>
          <a:xfrm>
            <a:off x="9626600" y="26416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500" b="1">
                <a:solidFill>
                  <a:srgbClr val="F7FBFC"/>
                </a:solidFill>
                <a:latin typeface="Aptos" panose="020B0004020202020204" pitchFamily="34" charset="0"/>
              </a:rPr>
              <a:t>Next.js arayüz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6E0637-150F-AA1F-072C-B6DC32367695}"/>
              </a:ext>
            </a:extLst>
          </p:cNvPr>
          <p:cNvSpPr txBox="1"/>
          <p:nvPr/>
        </p:nvSpPr>
        <p:spPr>
          <a:xfrm>
            <a:off x="9626600" y="30353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Katalog + karşılaştırma + asistan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8AC6648-B8EA-31D2-91FB-22C51236EFA0}"/>
              </a:ext>
            </a:extLst>
          </p:cNvPr>
          <p:cNvSpPr/>
          <p:nvPr/>
        </p:nvSpPr>
        <p:spPr>
          <a:xfrm>
            <a:off x="609600" y="4254500"/>
            <a:ext cx="10972800" cy="13970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34AB21-90BB-D0DE-D81E-D7911DAFF081}"/>
              </a:ext>
            </a:extLst>
          </p:cNvPr>
          <p:cNvSpPr txBox="1"/>
          <p:nvPr/>
        </p:nvSpPr>
        <p:spPr>
          <a:xfrm>
            <a:off x="889000" y="4508500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Tasarım ilkeleri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5AA9F9-40E6-E18F-F6CC-02F487326CAD}"/>
              </a:ext>
            </a:extLst>
          </p:cNvPr>
          <p:cNvSpPr txBox="1"/>
          <p:nvPr/>
        </p:nvSpPr>
        <p:spPr>
          <a:xfrm>
            <a:off x="3365500" y="4457700"/>
            <a:ext cx="381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• Kaynak cümlesine kadar izlenebilirlik
• Güncel ve tarihsel kapsamın ayrıştırılması
• Doğrulanmamış model çıktısının açık etiketi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04B14F-9A74-5227-5E8D-750E36165E39}"/>
              </a:ext>
            </a:extLst>
          </p:cNvPr>
          <p:cNvSpPr txBox="1"/>
          <p:nvPr/>
        </p:nvSpPr>
        <p:spPr>
          <a:xfrm>
            <a:off x="7493000" y="4457700"/>
            <a:ext cx="3619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• Yerel GPU ve yerel LLM
• İdempotent belge alımı ve inceleme akışı
• Güvenli public/admin API ayrımı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466B6A-A776-38A5-5254-19D643F07F89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D03BE5-2F99-A6E6-54D0-24C45C42964E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984B29-BEAF-382C-1C45-E9707060EB65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2250654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3F764F-DF08-197E-3B40-B582E53308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A14E3-198C-7B99-A848-A54A20E06EA9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80F983-21CE-0933-9BA9-409DDAB85974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VERI SETI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3E38F-69B4-BD97-676F-B5983D72E0CD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000" b="1">
                <a:solidFill>
                  <a:srgbClr val="F7FBFC"/>
                </a:solidFill>
                <a:latin typeface="Aptos" panose="020B0004020202020204" pitchFamily="34" charset="0"/>
              </a:rPr>
              <a:t>2016–2026 dönemini kapsayan sürümlü finans korpusu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59FE3-6C05-ABD6-7DD8-EBAF5ED5E5C1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Resmî paket JSONL/CSV, şema, manifest ve veri kartıyla birlikte yayımlanır.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9B336-7D7B-3FD1-97E9-AC14C245B678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652DFB-24BD-9A26-66D2-CAA78F802901}"/>
              </a:ext>
            </a:extLst>
          </p:cNvPr>
          <p:cNvSpPr/>
          <p:nvPr/>
        </p:nvSpPr>
        <p:spPr>
          <a:xfrm>
            <a:off x="609600" y="2032000"/>
            <a:ext cx="24765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CA1BBA-8DF9-4143-C0FF-488D263C828B}"/>
              </a:ext>
            </a:extLst>
          </p:cNvPr>
          <p:cNvSpPr/>
          <p:nvPr/>
        </p:nvSpPr>
        <p:spPr>
          <a:xfrm>
            <a:off x="812800" y="2209800"/>
            <a:ext cx="406400" cy="508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BE18F-9CF2-6928-7FF7-8BC81E9676DE}"/>
              </a:ext>
            </a:extLst>
          </p:cNvPr>
          <p:cNvSpPr txBox="1"/>
          <p:nvPr/>
        </p:nvSpPr>
        <p:spPr>
          <a:xfrm>
            <a:off x="812800" y="2349500"/>
            <a:ext cx="20701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3.351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D1B9C-49F9-31DF-2F5B-1A5AC711BF47}"/>
              </a:ext>
            </a:extLst>
          </p:cNvPr>
          <p:cNvSpPr txBox="1"/>
          <p:nvPr/>
        </p:nvSpPr>
        <p:spPr>
          <a:xfrm>
            <a:off x="812800" y="2781300"/>
            <a:ext cx="2070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toplam belge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733E20-6AAB-B80D-9A2C-41B03D8FE9BE}"/>
              </a:ext>
            </a:extLst>
          </p:cNvPr>
          <p:cNvSpPr/>
          <p:nvPr/>
        </p:nvSpPr>
        <p:spPr>
          <a:xfrm>
            <a:off x="3340100" y="2032000"/>
            <a:ext cx="24765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DCDC57-3D1E-54CA-5940-4B1A4D7F6447}"/>
              </a:ext>
            </a:extLst>
          </p:cNvPr>
          <p:cNvSpPr/>
          <p:nvPr/>
        </p:nvSpPr>
        <p:spPr>
          <a:xfrm>
            <a:off x="3543300" y="2209800"/>
            <a:ext cx="406400" cy="508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2359B9-D5F1-EB9D-EF81-7E2ECF09FD01}"/>
              </a:ext>
            </a:extLst>
          </p:cNvPr>
          <p:cNvSpPr txBox="1"/>
          <p:nvPr/>
        </p:nvSpPr>
        <p:spPr>
          <a:xfrm>
            <a:off x="3543300" y="2349500"/>
            <a:ext cx="20701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771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0C23A2-50DE-AF5C-465F-53DD6D1267B8}"/>
              </a:ext>
            </a:extLst>
          </p:cNvPr>
          <p:cNvSpPr txBox="1"/>
          <p:nvPr/>
        </p:nvSpPr>
        <p:spPr>
          <a:xfrm>
            <a:off x="3543300" y="2781300"/>
            <a:ext cx="2070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güncel belge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91D27D3-1F52-F05E-3DB4-235E207DD724}"/>
              </a:ext>
            </a:extLst>
          </p:cNvPr>
          <p:cNvSpPr/>
          <p:nvPr/>
        </p:nvSpPr>
        <p:spPr>
          <a:xfrm>
            <a:off x="6070600" y="2032000"/>
            <a:ext cx="24765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890EE2-6A5B-3E5A-05A0-4C0566FC9D2A}"/>
              </a:ext>
            </a:extLst>
          </p:cNvPr>
          <p:cNvSpPr/>
          <p:nvPr/>
        </p:nvSpPr>
        <p:spPr>
          <a:xfrm>
            <a:off x="6273800" y="2209800"/>
            <a:ext cx="406400" cy="508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30B79F-FE41-F50A-0571-ADFBCABB2D20}"/>
              </a:ext>
            </a:extLst>
          </p:cNvPr>
          <p:cNvSpPr txBox="1"/>
          <p:nvPr/>
        </p:nvSpPr>
        <p:spPr>
          <a:xfrm>
            <a:off x="6273800" y="2349500"/>
            <a:ext cx="20701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2.580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675612-CA8B-134F-FD2A-892EC9919F40}"/>
              </a:ext>
            </a:extLst>
          </p:cNvPr>
          <p:cNvSpPr txBox="1"/>
          <p:nvPr/>
        </p:nvSpPr>
        <p:spPr>
          <a:xfrm>
            <a:off x="6273800" y="2781300"/>
            <a:ext cx="2070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tarihsel belge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4312239-62B3-034D-5AEF-7C1462B1F80B}"/>
              </a:ext>
            </a:extLst>
          </p:cNvPr>
          <p:cNvSpPr/>
          <p:nvPr/>
        </p:nvSpPr>
        <p:spPr>
          <a:xfrm>
            <a:off x="8801100" y="2032000"/>
            <a:ext cx="27813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7EB47AD-2EF5-7285-5395-96E95CE6E986}"/>
              </a:ext>
            </a:extLst>
          </p:cNvPr>
          <p:cNvSpPr/>
          <p:nvPr/>
        </p:nvSpPr>
        <p:spPr>
          <a:xfrm>
            <a:off x="9004300" y="2209800"/>
            <a:ext cx="406400" cy="508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615444-DB10-C368-CCE3-511F00ADA610}"/>
              </a:ext>
            </a:extLst>
          </p:cNvPr>
          <p:cNvSpPr txBox="1"/>
          <p:nvPr/>
        </p:nvSpPr>
        <p:spPr>
          <a:xfrm>
            <a:off x="9004300" y="2349500"/>
            <a:ext cx="23749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10.501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0E5A98-7850-D757-08BE-A742B0F23C41}"/>
              </a:ext>
            </a:extLst>
          </p:cNvPr>
          <p:cNvSpPr txBox="1"/>
          <p:nvPr/>
        </p:nvSpPr>
        <p:spPr>
          <a:xfrm>
            <a:off x="9004300" y="2781300"/>
            <a:ext cx="2374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etiketli span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D1E6A6-D274-6E78-B93C-0AE19EBEB7A4}"/>
              </a:ext>
            </a:extLst>
          </p:cNvPr>
          <p:cNvSpPr/>
          <p:nvPr/>
        </p:nvSpPr>
        <p:spPr>
          <a:xfrm>
            <a:off x="609600" y="3429000"/>
            <a:ext cx="24765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C6F589B-75A5-9F19-5028-AEA13345849B}"/>
              </a:ext>
            </a:extLst>
          </p:cNvPr>
          <p:cNvSpPr/>
          <p:nvPr/>
        </p:nvSpPr>
        <p:spPr>
          <a:xfrm>
            <a:off x="812800" y="3606800"/>
            <a:ext cx="406400" cy="50800"/>
          </a:xfrm>
          <a:prstGeom prst="roundRect">
            <a:avLst/>
          </a:prstGeom>
          <a:solidFill>
            <a:srgbClr val="75E6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B63A0C-7D2F-23F7-48CF-0D864908187B}"/>
              </a:ext>
            </a:extLst>
          </p:cNvPr>
          <p:cNvSpPr txBox="1"/>
          <p:nvPr/>
        </p:nvSpPr>
        <p:spPr>
          <a:xfrm>
            <a:off x="812800" y="3746500"/>
            <a:ext cx="20701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E83E3E-FEDE-09EE-15D5-6DEEC11110D0}"/>
              </a:ext>
            </a:extLst>
          </p:cNvPr>
          <p:cNvSpPr txBox="1"/>
          <p:nvPr/>
        </p:nvSpPr>
        <p:spPr>
          <a:xfrm>
            <a:off x="812800" y="4178300"/>
            <a:ext cx="2070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katılım bankası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7340FAF-B558-7111-2304-11AACF81F8F0}"/>
              </a:ext>
            </a:extLst>
          </p:cNvPr>
          <p:cNvSpPr/>
          <p:nvPr/>
        </p:nvSpPr>
        <p:spPr>
          <a:xfrm>
            <a:off x="3340100" y="3429000"/>
            <a:ext cx="24765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66F8A23-19CC-BC6A-FE9D-A6367C3AA898}"/>
              </a:ext>
            </a:extLst>
          </p:cNvPr>
          <p:cNvSpPr/>
          <p:nvPr/>
        </p:nvSpPr>
        <p:spPr>
          <a:xfrm>
            <a:off x="3543300" y="3606800"/>
            <a:ext cx="406400" cy="50800"/>
          </a:xfrm>
          <a:prstGeom prst="roundRect">
            <a:avLst/>
          </a:prstGeom>
          <a:solidFill>
            <a:srgbClr val="75E6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115C99-534F-9B39-055B-E96D09E0CAAB}"/>
              </a:ext>
            </a:extLst>
          </p:cNvPr>
          <p:cNvSpPr txBox="1"/>
          <p:nvPr/>
        </p:nvSpPr>
        <p:spPr>
          <a:xfrm>
            <a:off x="3543300" y="3746500"/>
            <a:ext cx="20701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7.238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E05F12-7B80-64E1-9768-006B97D27819}"/>
              </a:ext>
            </a:extLst>
          </p:cNvPr>
          <p:cNvSpPr txBox="1"/>
          <p:nvPr/>
        </p:nvSpPr>
        <p:spPr>
          <a:xfrm>
            <a:off x="3543300" y="4178300"/>
            <a:ext cx="2070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NER pasajı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5F987B9-BE7F-F251-E2A6-DF63B5D5CFB5}"/>
              </a:ext>
            </a:extLst>
          </p:cNvPr>
          <p:cNvSpPr/>
          <p:nvPr/>
        </p:nvSpPr>
        <p:spPr>
          <a:xfrm>
            <a:off x="6070600" y="3429000"/>
            <a:ext cx="24765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0EC22B0-264B-2C22-1B0D-410618E0F46E}"/>
              </a:ext>
            </a:extLst>
          </p:cNvPr>
          <p:cNvSpPr/>
          <p:nvPr/>
        </p:nvSpPr>
        <p:spPr>
          <a:xfrm>
            <a:off x="6273800" y="3606800"/>
            <a:ext cx="406400" cy="50800"/>
          </a:xfrm>
          <a:prstGeom prst="roundRect">
            <a:avLst/>
          </a:prstGeom>
          <a:solidFill>
            <a:srgbClr val="75E6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761946-7591-2E5B-DEA6-21A8E6ACB820}"/>
              </a:ext>
            </a:extLst>
          </p:cNvPr>
          <p:cNvSpPr txBox="1"/>
          <p:nvPr/>
        </p:nvSpPr>
        <p:spPr>
          <a:xfrm>
            <a:off x="6273800" y="3746500"/>
            <a:ext cx="20701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1,04 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47FDA9-8BDB-A6A7-104A-E4217BD41087}"/>
              </a:ext>
            </a:extLst>
          </p:cNvPr>
          <p:cNvSpPr txBox="1"/>
          <p:nvPr/>
        </p:nvSpPr>
        <p:spPr>
          <a:xfrm>
            <a:off x="6273800" y="4178300"/>
            <a:ext cx="2070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kelime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105BB5C-D37C-B13E-920B-2F0B58F01A6F}"/>
              </a:ext>
            </a:extLst>
          </p:cNvPr>
          <p:cNvSpPr/>
          <p:nvPr/>
        </p:nvSpPr>
        <p:spPr>
          <a:xfrm>
            <a:off x="8801100" y="3429000"/>
            <a:ext cx="27813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09C62FD-1519-F70D-35F7-9E46A8EBD7EC}"/>
              </a:ext>
            </a:extLst>
          </p:cNvPr>
          <p:cNvSpPr/>
          <p:nvPr/>
        </p:nvSpPr>
        <p:spPr>
          <a:xfrm>
            <a:off x="9004300" y="3606800"/>
            <a:ext cx="406400" cy="50800"/>
          </a:xfrm>
          <a:prstGeom prst="roundRect">
            <a:avLst/>
          </a:prstGeom>
          <a:solidFill>
            <a:srgbClr val="75E6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9D0DC4-566F-19AA-147A-74EA985EDFFC}"/>
              </a:ext>
            </a:extLst>
          </p:cNvPr>
          <p:cNvSpPr txBox="1"/>
          <p:nvPr/>
        </p:nvSpPr>
        <p:spPr>
          <a:xfrm>
            <a:off x="9004300" y="3746500"/>
            <a:ext cx="23749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2016–2026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D3B807-EEDC-8334-3A3C-C237DA80703D}"/>
              </a:ext>
            </a:extLst>
          </p:cNvPr>
          <p:cNvSpPr txBox="1"/>
          <p:nvPr/>
        </p:nvSpPr>
        <p:spPr>
          <a:xfrm>
            <a:off x="9004300" y="4178300"/>
            <a:ext cx="2374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içerik tarih aralığı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6BFD283-5DA3-B297-44FE-28A7E82438B8}"/>
              </a:ext>
            </a:extLst>
          </p:cNvPr>
          <p:cNvSpPr/>
          <p:nvPr/>
        </p:nvSpPr>
        <p:spPr>
          <a:xfrm>
            <a:off x="609600" y="5016500"/>
            <a:ext cx="10972800" cy="1041400"/>
          </a:xfrm>
          <a:prstGeom prst="roundRect">
            <a:avLst/>
          </a:prstGeom>
          <a:solidFill>
            <a:srgbClr val="4A3B1A"/>
          </a:solidFill>
          <a:ln w="12700">
            <a:solidFill>
              <a:srgbClr val="FFCC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4EAC05-A49E-4E16-8D2C-E3C7FFE93DDD}"/>
              </a:ext>
            </a:extLst>
          </p:cNvPr>
          <p:cNvSpPr txBox="1"/>
          <p:nvPr/>
        </p:nvSpPr>
        <p:spPr>
          <a:xfrm>
            <a:off x="889000" y="5232400"/>
            <a:ext cx="2095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 b="1">
                <a:solidFill>
                  <a:srgbClr val="FFCC66"/>
                </a:solidFill>
                <a:latin typeface="Aptos" panose="020B0004020202020204" pitchFamily="34" charset="0"/>
              </a:rPr>
              <a:t>VERİ YÖNETİŞİMİ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43D619-28AD-547E-841F-6DDD32756BF0}"/>
              </a:ext>
            </a:extLst>
          </p:cNvPr>
          <p:cNvSpPr txBox="1"/>
          <p:nvPr/>
        </p:nvSpPr>
        <p:spPr>
          <a:xfrm>
            <a:off x="2984500" y="5168900"/>
            <a:ext cx="8191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300">
                <a:solidFill>
                  <a:srgbClr val="F7FBFC"/>
                </a:solidFill>
                <a:latin typeface="Aptos" panose="020B0004020202020204" pitchFamily="34" charset="0"/>
              </a:rPr>
              <a:t>Etiketler silver/kural tabanlıdır; tüm doğrulandi alanları insan doğrulaması tamamlanana kadar false kalır. Arayüz ve API bunu model çıkarımı olarak açıkça gösterir.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DBDE6A-941A-E3E2-CF86-F27A99B74829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A18295-9A5B-9811-861F-CDC431A7931B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FDBA71-4782-6834-B7FE-5CAE957A455C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375116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25491-9DD0-3285-8C80-1378D585D7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44379C-8D96-C73E-FB2D-0159E242758D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21468-CC58-1879-E0B8-D8F3A1D83F40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NLP VE RAG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230E2-E82F-1C65-107D-352B6BDF486B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000" b="1">
                <a:solidFill>
                  <a:srgbClr val="F7FBFC"/>
                </a:solidFill>
                <a:latin typeface="Aptos" panose="020B0004020202020204" pitchFamily="34" charset="0"/>
              </a:rPr>
              <a:t>Türkçe finans diline özel hibrit yaklaşım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13E63-7F08-CC8C-F3FC-D7737C9572B9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Öğrenen modeller, deterministik bağlam kuralları ve kaynaklı üretim birlikte çalışır.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0B471-FA34-12F1-6F52-EE241DCA1D6C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1A78FD-06B0-6199-206D-3483AFC442EB}"/>
              </a:ext>
            </a:extLst>
          </p:cNvPr>
          <p:cNvSpPr/>
          <p:nvPr/>
        </p:nvSpPr>
        <p:spPr>
          <a:xfrm>
            <a:off x="609600" y="2032000"/>
            <a:ext cx="3429000" cy="2540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BC3304-9A6E-B33C-F4A7-B31BC2007F3C}"/>
              </a:ext>
            </a:extLst>
          </p:cNvPr>
          <p:cNvSpPr/>
          <p:nvPr/>
        </p:nvSpPr>
        <p:spPr>
          <a:xfrm>
            <a:off x="838200" y="22606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B34CE7-00EB-4F43-3D56-9B21CA2EFDAE}"/>
              </a:ext>
            </a:extLst>
          </p:cNvPr>
          <p:cNvSpPr txBox="1"/>
          <p:nvPr/>
        </p:nvSpPr>
        <p:spPr>
          <a:xfrm>
            <a:off x="838200" y="23495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FAC36E-832F-5823-BC53-E390E588F15C}"/>
              </a:ext>
            </a:extLst>
          </p:cNvPr>
          <p:cNvSpPr txBox="1"/>
          <p:nvPr/>
        </p:nvSpPr>
        <p:spPr>
          <a:xfrm>
            <a:off x="1447800" y="2260600"/>
            <a:ext cx="2362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Sınıflandırma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A5DC4C-450E-367C-09DD-F2A17EB2BFC2}"/>
              </a:ext>
            </a:extLst>
          </p:cNvPr>
          <p:cNvSpPr txBox="1"/>
          <p:nvPr/>
        </p:nvSpPr>
        <p:spPr>
          <a:xfrm>
            <a:off x="838200" y="2819400"/>
            <a:ext cx="29718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BERTurk tabanlı kampanya ve 13 sınıflı ürün modeli. Ürün sınıflandırıcı Macro F1: 0,8759.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B13105-5660-8048-1A58-373528C3C9ED}"/>
              </a:ext>
            </a:extLst>
          </p:cNvPr>
          <p:cNvSpPr/>
          <p:nvPr/>
        </p:nvSpPr>
        <p:spPr>
          <a:xfrm>
            <a:off x="4381500" y="2032000"/>
            <a:ext cx="3429000" cy="2540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DFF168-DAA3-325E-C7C8-A85A9B001457}"/>
              </a:ext>
            </a:extLst>
          </p:cNvPr>
          <p:cNvSpPr/>
          <p:nvPr/>
        </p:nvSpPr>
        <p:spPr>
          <a:xfrm>
            <a:off x="4610100" y="22606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DD91F-E1F7-74EE-FCD0-46914D53713F}"/>
              </a:ext>
            </a:extLst>
          </p:cNvPr>
          <p:cNvSpPr txBox="1"/>
          <p:nvPr/>
        </p:nvSpPr>
        <p:spPr>
          <a:xfrm>
            <a:off x="4610100" y="23495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FEF53F-5B30-8E8C-26D6-C4CEC4053103}"/>
              </a:ext>
            </a:extLst>
          </p:cNvPr>
          <p:cNvSpPr txBox="1"/>
          <p:nvPr/>
        </p:nvSpPr>
        <p:spPr>
          <a:xfrm>
            <a:off x="5219700" y="2260600"/>
            <a:ext cx="2362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Varlık çıkarımı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C4860C-91D2-516A-43AB-E833ECAD8735}"/>
              </a:ext>
            </a:extLst>
          </p:cNvPr>
          <p:cNvSpPr txBox="1"/>
          <p:nvPr/>
        </p:nvSpPr>
        <p:spPr>
          <a:xfrm>
            <a:off x="4610100" y="2819400"/>
            <a:ext cx="29718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sv-SE" sz="1200">
                <a:solidFill>
                  <a:srgbClr val="A9C1CB"/>
                </a:solidFill>
                <a:latin typeface="Aptos" panose="020B0004020202020204" pitchFamily="34" charset="0"/>
              </a:rPr>
              <a:t>17 finansal varlık türü. NER Precision 0,8296 · Recall 0,9113 · F1 0,8685.</a:t>
            </a:r>
            <a:endParaRPr lang="tr-TR" sz="1200">
              <a:solidFill>
                <a:srgbClr val="A9C1C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5AA7638-0C44-4FD7-5E9A-3169A6CE0910}"/>
              </a:ext>
            </a:extLst>
          </p:cNvPr>
          <p:cNvSpPr/>
          <p:nvPr/>
        </p:nvSpPr>
        <p:spPr>
          <a:xfrm>
            <a:off x="8153400" y="2032000"/>
            <a:ext cx="3429000" cy="2540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3ABC143-2595-BA4F-B6AC-5B5B200E51FA}"/>
              </a:ext>
            </a:extLst>
          </p:cNvPr>
          <p:cNvSpPr/>
          <p:nvPr/>
        </p:nvSpPr>
        <p:spPr>
          <a:xfrm>
            <a:off x="8382000" y="22606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A8D52B-8B09-7574-5EF2-770BF97CFDC3}"/>
              </a:ext>
            </a:extLst>
          </p:cNvPr>
          <p:cNvSpPr txBox="1"/>
          <p:nvPr/>
        </p:nvSpPr>
        <p:spPr>
          <a:xfrm>
            <a:off x="8382000" y="23495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288A34-DCC8-0CCF-67FC-E74645F27856}"/>
              </a:ext>
            </a:extLst>
          </p:cNvPr>
          <p:cNvSpPr txBox="1"/>
          <p:nvPr/>
        </p:nvSpPr>
        <p:spPr>
          <a:xfrm>
            <a:off x="8991600" y="2260600"/>
            <a:ext cx="2362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Kural + RAG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5A3AD4-ECDE-56B4-25CE-36E0BAE37E20}"/>
              </a:ext>
            </a:extLst>
          </p:cNvPr>
          <p:cNvSpPr txBox="1"/>
          <p:nvPr/>
        </p:nvSpPr>
        <p:spPr>
          <a:xfrm>
            <a:off x="8382000" y="2819400"/>
            <a:ext cx="2971800" cy="590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Bağlam güvenlik kuralları; BGE-M3 dense+sparse arama; Qwen ile yalnızca getirilen kaynaklardan yanıt.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7182C7A-09B1-EFD6-5E79-ABAB65833465}"/>
              </a:ext>
            </a:extLst>
          </p:cNvPr>
          <p:cNvSpPr/>
          <p:nvPr/>
        </p:nvSpPr>
        <p:spPr>
          <a:xfrm>
            <a:off x="609600" y="4953000"/>
            <a:ext cx="10972800" cy="10160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2758BE-AA21-D37D-8CCB-0B39A46D5F19}"/>
              </a:ext>
            </a:extLst>
          </p:cNvPr>
          <p:cNvSpPr txBox="1"/>
          <p:nvPr/>
        </p:nvSpPr>
        <p:spPr>
          <a:xfrm>
            <a:off x="1016000" y="5219700"/>
            <a:ext cx="1016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2000" b="1">
                <a:solidFill>
                  <a:srgbClr val="F7FBFC"/>
                </a:solidFill>
                <a:latin typeface="Aptos" panose="020B0004020202020204" pitchFamily="34" charset="0"/>
              </a:rPr>
              <a:t>Model → bağlam kuralı → güven eşiği → insan inceleme kuyruğu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21DA0A-5A35-2FED-32D7-83A1DCDE36DE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C1E9DF-BF59-2F2E-FD9A-6E0C88E00A88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E475F1-E517-0536-B2F9-A4EDE818D6FB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975713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F733B8-788E-1E6C-C106-2408920089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A7417-2C05-5DA3-B094-08D257D39381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BC7F2-FF3C-5C0D-28A1-A9D478DB9D2B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CANLı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6FB56-8C3A-0A1B-CADD-7862A98E6C1C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000" b="1">
                <a:solidFill>
                  <a:srgbClr val="F7FBFC"/>
                </a:solidFill>
                <a:latin typeface="Aptos" panose="020B0004020202020204" pitchFamily="34" charset="0"/>
              </a:rPr>
              <a:t>Sistem panoraması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FEB4AB-BA62-85D6-E847-0AB5CF12E2C7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Güncel ve tarihsel kapsam, model hazırlığı ve veri yoğunluğu tek ekranda.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9B196-C455-2B74-73A2-D16B28EA2073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49E617-168B-C13E-84C3-9AFB5E6FC3E2}"/>
              </a:ext>
            </a:extLst>
          </p:cNvPr>
          <p:cNvSpPr/>
          <p:nvPr/>
        </p:nvSpPr>
        <p:spPr>
          <a:xfrm>
            <a:off x="609600" y="1841500"/>
            <a:ext cx="8255000" cy="43815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07B383-8180-5858-19CD-24367E6EDA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968500"/>
            <a:ext cx="8001000" cy="41275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B2E129-EC99-6E68-2E58-C0ED70CCA8E8}"/>
              </a:ext>
            </a:extLst>
          </p:cNvPr>
          <p:cNvSpPr/>
          <p:nvPr/>
        </p:nvSpPr>
        <p:spPr>
          <a:xfrm>
            <a:off x="9118600" y="1841500"/>
            <a:ext cx="2463800" cy="43815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7980B7-BB64-CF4D-7980-ED2369E9C105}"/>
              </a:ext>
            </a:extLst>
          </p:cNvPr>
          <p:cNvSpPr/>
          <p:nvPr/>
        </p:nvSpPr>
        <p:spPr>
          <a:xfrm>
            <a:off x="9372600" y="2146300"/>
            <a:ext cx="482600" cy="635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A4727-12D3-0C43-6A72-BBE03F0F3841}"/>
              </a:ext>
            </a:extLst>
          </p:cNvPr>
          <p:cNvSpPr txBox="1"/>
          <p:nvPr/>
        </p:nvSpPr>
        <p:spPr>
          <a:xfrm>
            <a:off x="9372600" y="2463800"/>
            <a:ext cx="19558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b="1">
                <a:solidFill>
                  <a:srgbClr val="F7FBFC"/>
                </a:solidFill>
                <a:latin typeface="Aptos" panose="020B0004020202020204" pitchFamily="34" charset="0"/>
              </a:rPr>
              <a:t>Şeffaf sistem durumu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2B4D93-B94E-F459-BFF1-112767D58D61}"/>
              </a:ext>
            </a:extLst>
          </p:cNvPr>
          <p:cNvSpPr txBox="1"/>
          <p:nvPr/>
        </p:nvSpPr>
        <p:spPr>
          <a:xfrm>
            <a:off x="9372600" y="3365500"/>
            <a:ext cx="1955800" cy="10074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Bağlantı, GPU, model ve veri kapsamı kullanıcıdan saklanmaz. API kısmi çalışıyorsa yalnız ilgili görünüm etkilenir.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366178-2535-60CB-944F-EB098CBA5660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5B59E6-815E-2AD2-A1BD-6FA6BAC2DC40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E20FD9-CD3F-4793-4D10-05936F4334A5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47599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CB5B02-42CA-3453-AC47-920C2CF34B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095DF6-8A87-6837-4386-7C8FAF261909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3FF1D-E61A-8F7B-5432-D15DE3271F00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CANLı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41BA5-6BDF-EB24-91AD-80BAD6C62832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000" b="1">
                <a:solidFill>
                  <a:srgbClr val="F7FBFC"/>
                </a:solidFill>
                <a:latin typeface="Aptos" panose="020B0004020202020204" pitchFamily="34" charset="0"/>
              </a:rPr>
              <a:t>Kaynaklı ürün karşılaştırması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196E31-8234-E488-40C6-6069D54BA853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Ürün kodları güncel ve tarihsel uçlarda merkezi olarak eşlenir; sonuçlar kanıt düzeyinde ayrıştırılır.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AAB81A-8AB4-BEF0-686E-A81D0EFF8D8E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732AC2-87F4-42DD-88D0-F12DB9043EAA}"/>
              </a:ext>
            </a:extLst>
          </p:cNvPr>
          <p:cNvSpPr/>
          <p:nvPr/>
        </p:nvSpPr>
        <p:spPr>
          <a:xfrm>
            <a:off x="609600" y="1841500"/>
            <a:ext cx="8255000" cy="43815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E382BB-4662-0718-076B-21ED9B32F1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968500"/>
            <a:ext cx="8001000" cy="41275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044BB8-70B9-9666-C5DE-FC58922FF625}"/>
              </a:ext>
            </a:extLst>
          </p:cNvPr>
          <p:cNvSpPr/>
          <p:nvPr/>
        </p:nvSpPr>
        <p:spPr>
          <a:xfrm>
            <a:off x="9118600" y="1841500"/>
            <a:ext cx="2463800" cy="43815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F1152E-4F89-2AF6-99DF-430EE8366DAE}"/>
              </a:ext>
            </a:extLst>
          </p:cNvPr>
          <p:cNvSpPr/>
          <p:nvPr/>
        </p:nvSpPr>
        <p:spPr>
          <a:xfrm>
            <a:off x="9372600" y="2146300"/>
            <a:ext cx="482600" cy="635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36B4F5-E845-5B71-158D-840767101818}"/>
              </a:ext>
            </a:extLst>
          </p:cNvPr>
          <p:cNvSpPr txBox="1"/>
          <p:nvPr/>
        </p:nvSpPr>
        <p:spPr>
          <a:xfrm>
            <a:off x="9372600" y="24638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b="1">
                <a:solidFill>
                  <a:srgbClr val="F7FBFC"/>
                </a:solidFill>
                <a:latin typeface="Aptos" panose="020B0004020202020204" pitchFamily="34" charset="0"/>
              </a:rPr>
              <a:t>Koşul → belge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583CC1-D45B-3E09-C5E7-AB9FBF9A14EC}"/>
              </a:ext>
            </a:extLst>
          </p:cNvPr>
          <p:cNvSpPr txBox="1"/>
          <p:nvPr/>
        </p:nvSpPr>
        <p:spPr>
          <a:xfrm>
            <a:off x="9372600" y="3365500"/>
            <a:ext cx="1955800" cy="10074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Her değer kendi belge ve kanıt cümlesiyle ilişkilidir. Eksik alan uydurulmaz; doğrulanmamış çıkarım açıkça işaretlenir.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A35413-7924-F2BE-614F-F56630D6D083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402A57-3285-6E23-4230-47B9C0730C71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19DF7B-1A4F-EAC3-1EA6-293D3F585341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3515394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CB688F-8733-30C6-9A6B-90C2D73576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EEB01-C879-7282-0D19-6AB7DA5C5A14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E08C75-A02B-2EEB-9AE3-270F4DF5ED4F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CANLı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63955-4197-06A3-DCDE-A41CD5054B25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000" b="1">
                <a:solidFill>
                  <a:srgbClr val="F7FBFC"/>
                </a:solidFill>
                <a:latin typeface="Aptos" panose="020B0004020202020204" pitchFamily="34" charset="0"/>
              </a:rPr>
              <a:t>Kaynaklı yapay zekâ asistanı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E22A5-7D46-3F7D-33AA-5F3E8760085F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Hibrit aramayla bulunan resmî metinler, yerel Qwen yanıtında benzersiz dipnotlarla gösterilir.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4C82D4-E4C3-EE2E-4D4D-7B768433B799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6A7722-146E-DBA8-7E95-BB801026E2EA}"/>
              </a:ext>
            </a:extLst>
          </p:cNvPr>
          <p:cNvSpPr/>
          <p:nvPr/>
        </p:nvSpPr>
        <p:spPr>
          <a:xfrm>
            <a:off x="609600" y="1841500"/>
            <a:ext cx="8255000" cy="43815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87535F-6674-6669-991C-3F57B95DF7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968500"/>
            <a:ext cx="8001000" cy="41275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2F91D9-5A10-A96D-3941-95B216EAFAC8}"/>
              </a:ext>
            </a:extLst>
          </p:cNvPr>
          <p:cNvSpPr/>
          <p:nvPr/>
        </p:nvSpPr>
        <p:spPr>
          <a:xfrm>
            <a:off x="9118600" y="1841500"/>
            <a:ext cx="2463800" cy="43815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BE26FB-D223-0A2B-B26A-2899E27562F4}"/>
              </a:ext>
            </a:extLst>
          </p:cNvPr>
          <p:cNvSpPr/>
          <p:nvPr/>
        </p:nvSpPr>
        <p:spPr>
          <a:xfrm>
            <a:off x="9372600" y="2146300"/>
            <a:ext cx="482600" cy="635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FEFD6E-54DB-AFE3-9D10-591F9E56BD9F}"/>
              </a:ext>
            </a:extLst>
          </p:cNvPr>
          <p:cNvSpPr txBox="1"/>
          <p:nvPr/>
        </p:nvSpPr>
        <p:spPr>
          <a:xfrm>
            <a:off x="9372600" y="24638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b="1">
                <a:solidFill>
                  <a:srgbClr val="F7FBFC"/>
                </a:solidFill>
                <a:latin typeface="Aptos" panose="020B0004020202020204" pitchFamily="34" charset="0"/>
              </a:rPr>
              <a:t>RAG güvenlik sınırı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58A569-CAD3-66D8-6CF4-700F5FE4033D}"/>
              </a:ext>
            </a:extLst>
          </p:cNvPr>
          <p:cNvSpPr txBox="1"/>
          <p:nvPr/>
        </p:nvSpPr>
        <p:spPr>
          <a:xfrm>
            <a:off x="9372600" y="3365500"/>
            <a:ext cx="1955800" cy="804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Yanıt finansal tavsiye değildir. Kaynak yoksa sistem bilgi uydurmaz; sohbet kapsamı güncel veya tarihsel seçilir.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4ED6DD-20B7-9024-41A1-46AFD79E1803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DA9CE8-6D78-813A-C7CD-4894958D11E3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4BECCB-EAED-09CA-A694-512F5C7074EF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2882963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223749-3DB2-EF26-30CD-25957C0CC1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F6B2D3-5852-DAA2-3794-9F164F0077AB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95AB2-60C0-D8D4-4A89-959EF2684DC1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GÜVENLIK VE KALITE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637A2-B3C3-2CC5-B80D-62A144CFE5E9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000" b="1">
                <a:solidFill>
                  <a:srgbClr val="F7FBFC"/>
                </a:solidFill>
                <a:latin typeface="Aptos" panose="020B0004020202020204" pitchFamily="34" charset="0"/>
              </a:rPr>
              <a:t>Dış ağa açılmadan önce güvenli varsayılanlar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D83663-6752-AC5C-6FED-F957C93A2B20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Yönetim işlemleri public karar destek API'sinden ayrılır; veri statüsü sözleşmenin parçasıdır.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7FA84E-0AD0-B078-B8A5-AA64BDE9968C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6427FA-3ED0-0E5E-DC92-80B083BCBA3B}"/>
              </a:ext>
            </a:extLst>
          </p:cNvPr>
          <p:cNvSpPr/>
          <p:nvPr/>
        </p:nvSpPr>
        <p:spPr>
          <a:xfrm>
            <a:off x="609600" y="1968500"/>
            <a:ext cx="5207000" cy="18415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A651A0-BB86-A386-1C5A-1E504578EEB6}"/>
              </a:ext>
            </a:extLst>
          </p:cNvPr>
          <p:cNvSpPr/>
          <p:nvPr/>
        </p:nvSpPr>
        <p:spPr>
          <a:xfrm>
            <a:off x="838200" y="2197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CD8C6-90EF-F16D-6C0D-722DF2F27CC8}"/>
              </a:ext>
            </a:extLst>
          </p:cNvPr>
          <p:cNvSpPr txBox="1"/>
          <p:nvPr/>
        </p:nvSpPr>
        <p:spPr>
          <a:xfrm>
            <a:off x="838200" y="2286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843B84-501E-DDDD-62AC-FD609B8DAF86}"/>
              </a:ext>
            </a:extLst>
          </p:cNvPr>
          <p:cNvSpPr txBox="1"/>
          <p:nvPr/>
        </p:nvSpPr>
        <p:spPr>
          <a:xfrm>
            <a:off x="1447800" y="2197100"/>
            <a:ext cx="4140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Public / admin ayrımı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906B28-56D7-DDAF-B32B-7F7F34C41CCD}"/>
              </a:ext>
            </a:extLst>
          </p:cNvPr>
          <p:cNvSpPr txBox="1"/>
          <p:nvPr/>
        </p:nvSpPr>
        <p:spPr>
          <a:xfrm>
            <a:off x="838200" y="2755900"/>
            <a:ext cx="47498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Belge yazımı ve inceleme kararları API anahtarı ister; anahtar OpenAPI security scheme içinde tanımlıdır.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3C6663-F11C-6496-06F4-A1F943DEFE72}"/>
              </a:ext>
            </a:extLst>
          </p:cNvPr>
          <p:cNvSpPr/>
          <p:nvPr/>
        </p:nvSpPr>
        <p:spPr>
          <a:xfrm>
            <a:off x="6070600" y="1968500"/>
            <a:ext cx="5511800" cy="18415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04D810-765D-AC03-C3A0-4F52B5CB2C5E}"/>
              </a:ext>
            </a:extLst>
          </p:cNvPr>
          <p:cNvSpPr/>
          <p:nvPr/>
        </p:nvSpPr>
        <p:spPr>
          <a:xfrm>
            <a:off x="6299200" y="2197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C42ECB-29E2-695B-E638-1C32E6658C21}"/>
              </a:ext>
            </a:extLst>
          </p:cNvPr>
          <p:cNvSpPr txBox="1"/>
          <p:nvPr/>
        </p:nvSpPr>
        <p:spPr>
          <a:xfrm>
            <a:off x="6299200" y="2286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BF1DB3-412A-DE95-6726-2BB6288D4DE2}"/>
              </a:ext>
            </a:extLst>
          </p:cNvPr>
          <p:cNvSpPr txBox="1"/>
          <p:nvPr/>
        </p:nvSpPr>
        <p:spPr>
          <a:xfrm>
            <a:off x="6908800" y="2197100"/>
            <a:ext cx="444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İstek korumaları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68F5EE-A73E-C54A-BF26-1DEC6EF971B3}"/>
              </a:ext>
            </a:extLst>
          </p:cNvPr>
          <p:cNvSpPr txBox="1"/>
          <p:nvPr/>
        </p:nvSpPr>
        <p:spPr>
          <a:xfrm>
            <a:off x="6299200" y="2755900"/>
            <a:ext cx="50546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CORS allowlist, body-size sınırı ve hız sınırlama güvenli ortam değişkenleriyle yönetilir.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9349CBF-1B23-A7E4-7702-AB9B9463A5BD}"/>
              </a:ext>
            </a:extLst>
          </p:cNvPr>
          <p:cNvSpPr/>
          <p:nvPr/>
        </p:nvSpPr>
        <p:spPr>
          <a:xfrm>
            <a:off x="609600" y="4064000"/>
            <a:ext cx="5207000" cy="18415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236702-09C8-75AA-3B08-162D1430EED5}"/>
              </a:ext>
            </a:extLst>
          </p:cNvPr>
          <p:cNvSpPr/>
          <p:nvPr/>
        </p:nvSpPr>
        <p:spPr>
          <a:xfrm>
            <a:off x="838200" y="42926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0E55C5-21A3-3DD8-2EC9-509DBC804A33}"/>
              </a:ext>
            </a:extLst>
          </p:cNvPr>
          <p:cNvSpPr txBox="1"/>
          <p:nvPr/>
        </p:nvSpPr>
        <p:spPr>
          <a:xfrm>
            <a:off x="838200" y="43815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23599A-6A83-B135-F3A9-B7459872EBD8}"/>
              </a:ext>
            </a:extLst>
          </p:cNvPr>
          <p:cNvSpPr txBox="1"/>
          <p:nvPr/>
        </p:nvSpPr>
        <p:spPr>
          <a:xfrm>
            <a:off x="1447800" y="4292600"/>
            <a:ext cx="4140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Veri bütünlüğü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9122CD-04DC-CAF2-F276-7E79C8F9D7F8}"/>
              </a:ext>
            </a:extLst>
          </p:cNvPr>
          <p:cNvSpPr txBox="1"/>
          <p:nvPr/>
        </p:nvSpPr>
        <p:spPr>
          <a:xfrm>
            <a:off x="838200" y="4851400"/>
            <a:ext cx="47498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Belge güncellemesi eski fact/entity artıklarını temizler; review kararı ve yazım atomik ve tek kayda bağlıdır.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CF1FB26-0AC7-E5D1-A343-29C02A40D207}"/>
              </a:ext>
            </a:extLst>
          </p:cNvPr>
          <p:cNvSpPr/>
          <p:nvPr/>
        </p:nvSpPr>
        <p:spPr>
          <a:xfrm>
            <a:off x="6070600" y="4064000"/>
            <a:ext cx="5511800" cy="18415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11BE136-7226-FEEE-1335-7CDBBE7D2423}"/>
              </a:ext>
            </a:extLst>
          </p:cNvPr>
          <p:cNvSpPr/>
          <p:nvPr/>
        </p:nvSpPr>
        <p:spPr>
          <a:xfrm>
            <a:off x="6299200" y="42926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2D83E2-B4C1-F703-0F48-3FD3F5A63FB2}"/>
              </a:ext>
            </a:extLst>
          </p:cNvPr>
          <p:cNvSpPr txBox="1"/>
          <p:nvPr/>
        </p:nvSpPr>
        <p:spPr>
          <a:xfrm>
            <a:off x="6299200" y="43815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F9A7B2-A127-F80D-A66C-1C569DF32242}"/>
              </a:ext>
            </a:extLst>
          </p:cNvPr>
          <p:cNvSpPr txBox="1"/>
          <p:nvPr/>
        </p:nvSpPr>
        <p:spPr>
          <a:xfrm>
            <a:off x="6908800" y="4292600"/>
            <a:ext cx="444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Doğrulama görünürlüğü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AF6723-C06E-7085-FF2F-6DAFB8668BEF}"/>
              </a:ext>
            </a:extLst>
          </p:cNvPr>
          <p:cNvSpPr txBox="1"/>
          <p:nvPr/>
        </p:nvSpPr>
        <p:spPr>
          <a:xfrm>
            <a:off x="6299200" y="4851400"/>
            <a:ext cx="50546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İnsan doğrulaması tamamlanmamış her sonuç model çıkarımı / doğrulanmadı etiketi ve uyarı alanı taşır.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7839DE-6612-36E2-6A7E-C439A718E11D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28428D-707E-1C6B-0525-AA9DB8623D85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F9CBB6-C2B9-2D63-BE40-1E32AFA52FB5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4049746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546DFC-2599-D70C-7E85-3E371FC38C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A2E48-B57C-A090-9EAB-56C6F3A6E425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19F8F-5A0F-C17A-D3C3-A26D16774278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ÖLÇÜM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8BDC4-9139-7E8E-19AF-3060F0892F7F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000" b="1">
                <a:solidFill>
                  <a:srgbClr val="F7FBFC"/>
                </a:solidFill>
                <a:latin typeface="Aptos" panose="020B0004020202020204" pitchFamily="34" charset="0"/>
              </a:rPr>
              <a:t>Başarı metrikleri ve veri kalite sınırları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96FCA-5ABD-7672-371A-F205BAD66350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Performans değerleri silver/kural tabanlı etiketli test seti bağlamında raporlanır.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609BB-C938-243F-C85F-AE958088EB4B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4948C7-D027-2637-0830-62D2B8B11330}"/>
              </a:ext>
            </a:extLst>
          </p:cNvPr>
          <p:cNvSpPr/>
          <p:nvPr/>
        </p:nvSpPr>
        <p:spPr>
          <a:xfrm>
            <a:off x="609600" y="2159000"/>
            <a:ext cx="24765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ED7B2E-3D26-A62D-D10C-229B259CA957}"/>
              </a:ext>
            </a:extLst>
          </p:cNvPr>
          <p:cNvSpPr/>
          <p:nvPr/>
        </p:nvSpPr>
        <p:spPr>
          <a:xfrm>
            <a:off x="812800" y="2336800"/>
            <a:ext cx="406400" cy="508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6A5E8-C259-D102-0AB2-4A4BD080D343}"/>
              </a:ext>
            </a:extLst>
          </p:cNvPr>
          <p:cNvSpPr txBox="1"/>
          <p:nvPr/>
        </p:nvSpPr>
        <p:spPr>
          <a:xfrm>
            <a:off x="812800" y="2476500"/>
            <a:ext cx="20701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0,9912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60ECF-2C2B-4EAE-EE50-50094C57F32B}"/>
              </a:ext>
            </a:extLst>
          </p:cNvPr>
          <p:cNvSpPr txBox="1"/>
          <p:nvPr/>
        </p:nvSpPr>
        <p:spPr>
          <a:xfrm>
            <a:off x="812800" y="2908300"/>
            <a:ext cx="2070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kampanya accuracy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9A2011-C2C0-11F0-FA56-59EFDB1756E5}"/>
              </a:ext>
            </a:extLst>
          </p:cNvPr>
          <p:cNvSpPr/>
          <p:nvPr/>
        </p:nvSpPr>
        <p:spPr>
          <a:xfrm>
            <a:off x="3340100" y="2159000"/>
            <a:ext cx="24765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11A6C-3840-231B-AE45-2EB899391C06}"/>
              </a:ext>
            </a:extLst>
          </p:cNvPr>
          <p:cNvSpPr/>
          <p:nvPr/>
        </p:nvSpPr>
        <p:spPr>
          <a:xfrm>
            <a:off x="3543300" y="2336800"/>
            <a:ext cx="406400" cy="508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08321-6F9E-1028-6E8C-CAD58F829187}"/>
              </a:ext>
            </a:extLst>
          </p:cNvPr>
          <p:cNvSpPr txBox="1"/>
          <p:nvPr/>
        </p:nvSpPr>
        <p:spPr>
          <a:xfrm>
            <a:off x="3543300" y="2476500"/>
            <a:ext cx="20701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0,9123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8C3182-F76A-32D4-520D-557C688EFC27}"/>
              </a:ext>
            </a:extLst>
          </p:cNvPr>
          <p:cNvSpPr txBox="1"/>
          <p:nvPr/>
        </p:nvSpPr>
        <p:spPr>
          <a:xfrm>
            <a:off x="3543300" y="2908300"/>
            <a:ext cx="2070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ürün accuracy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6836115-A481-63C3-8176-2B007C627947}"/>
              </a:ext>
            </a:extLst>
          </p:cNvPr>
          <p:cNvSpPr/>
          <p:nvPr/>
        </p:nvSpPr>
        <p:spPr>
          <a:xfrm>
            <a:off x="6070600" y="2159000"/>
            <a:ext cx="24765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6185C2E-328F-1B86-2E4E-B5CBD06A918B}"/>
              </a:ext>
            </a:extLst>
          </p:cNvPr>
          <p:cNvSpPr/>
          <p:nvPr/>
        </p:nvSpPr>
        <p:spPr>
          <a:xfrm>
            <a:off x="6273800" y="2336800"/>
            <a:ext cx="406400" cy="508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58C939-0E01-2B3A-0E80-A3151A727E55}"/>
              </a:ext>
            </a:extLst>
          </p:cNvPr>
          <p:cNvSpPr txBox="1"/>
          <p:nvPr/>
        </p:nvSpPr>
        <p:spPr>
          <a:xfrm>
            <a:off x="6273800" y="2476500"/>
            <a:ext cx="20701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0,8685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9E6610-6EDC-12EB-FC76-076C0A1735B4}"/>
              </a:ext>
            </a:extLst>
          </p:cNvPr>
          <p:cNvSpPr txBox="1"/>
          <p:nvPr/>
        </p:nvSpPr>
        <p:spPr>
          <a:xfrm>
            <a:off x="6273800" y="2908300"/>
            <a:ext cx="2070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NER entity F1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0C09D64-EC21-9890-86CD-6D178C58C86D}"/>
              </a:ext>
            </a:extLst>
          </p:cNvPr>
          <p:cNvSpPr/>
          <p:nvPr/>
        </p:nvSpPr>
        <p:spPr>
          <a:xfrm>
            <a:off x="8801100" y="2159000"/>
            <a:ext cx="2781300" cy="11176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DEAA67E-3E80-A882-410F-0334AE41DC99}"/>
              </a:ext>
            </a:extLst>
          </p:cNvPr>
          <p:cNvSpPr/>
          <p:nvPr/>
        </p:nvSpPr>
        <p:spPr>
          <a:xfrm>
            <a:off x="9004300" y="2336800"/>
            <a:ext cx="406400" cy="50800"/>
          </a:xfrm>
          <a:prstGeom prst="round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1B3922-7DBD-8924-8E47-A08EA1EFC5A3}"/>
              </a:ext>
            </a:extLst>
          </p:cNvPr>
          <p:cNvSpPr txBox="1"/>
          <p:nvPr/>
        </p:nvSpPr>
        <p:spPr>
          <a:xfrm>
            <a:off x="9004300" y="2476500"/>
            <a:ext cx="23749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F7FBFC"/>
                </a:solidFill>
                <a:latin typeface="Aptos" panose="020B0004020202020204" pitchFamily="34" charset="0"/>
              </a:rPr>
              <a:t>0,9828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F15563-2C19-CE4A-E517-12F8E6FD33AF}"/>
              </a:ext>
            </a:extLst>
          </p:cNvPr>
          <p:cNvSpPr txBox="1"/>
          <p:nvPr/>
        </p:nvSpPr>
        <p:spPr>
          <a:xfrm>
            <a:off x="9004300" y="2908300"/>
            <a:ext cx="2374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A9C1CB"/>
                </a:solidFill>
                <a:latin typeface="Aptos" panose="020B0004020202020204" pitchFamily="34" charset="0"/>
              </a:rPr>
              <a:t>NER token accuracy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A44C5F9-7057-50CE-36D1-BDE462C551AC}"/>
              </a:ext>
            </a:extLst>
          </p:cNvPr>
          <p:cNvSpPr/>
          <p:nvPr/>
        </p:nvSpPr>
        <p:spPr>
          <a:xfrm>
            <a:off x="609600" y="3810000"/>
            <a:ext cx="5207000" cy="2032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8CA941-463A-2A5B-E418-6CDCAB473C6B}"/>
              </a:ext>
            </a:extLst>
          </p:cNvPr>
          <p:cNvSpPr txBox="1"/>
          <p:nvPr/>
        </p:nvSpPr>
        <p:spPr>
          <a:xfrm>
            <a:off x="889000" y="40894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Doğrulanan teknik kontroller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436BBB-9837-A337-22A5-D8DB1D5C5BD1}"/>
              </a:ext>
            </a:extLst>
          </p:cNvPr>
          <p:cNvSpPr txBox="1"/>
          <p:nvPr/>
        </p:nvSpPr>
        <p:spPr>
          <a:xfrm>
            <a:off x="889000" y="4572000"/>
            <a:ext cx="4445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300">
                <a:solidFill>
                  <a:srgbClr val="A9C1CB"/>
                </a:solidFill>
                <a:latin typeface="Aptos" panose="020B0004020202020204" pitchFamily="34" charset="0"/>
              </a:rPr>
              <a:t>✓ JSONL bütünlüğü ve span ofsetleri
✓ Train/val/test sızıntı denetimi
✓ PostgreSQL dump parse kontrolü
✓ API entegrasyon ve smoke testleri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664F21F-8BE1-0921-4833-AE624C05B186}"/>
              </a:ext>
            </a:extLst>
          </p:cNvPr>
          <p:cNvSpPr/>
          <p:nvPr/>
        </p:nvSpPr>
        <p:spPr>
          <a:xfrm>
            <a:off x="6070600" y="3810000"/>
            <a:ext cx="5511800" cy="2032000"/>
          </a:xfrm>
          <a:prstGeom prst="roundRect">
            <a:avLst/>
          </a:prstGeom>
          <a:solidFill>
            <a:srgbClr val="4A3B1A"/>
          </a:solidFill>
          <a:ln w="12700">
            <a:solidFill>
              <a:srgbClr val="FFCC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F818A8-93C1-3F63-49E0-462FBF866F1C}"/>
              </a:ext>
            </a:extLst>
          </p:cNvPr>
          <p:cNvSpPr txBox="1"/>
          <p:nvPr/>
        </p:nvSpPr>
        <p:spPr>
          <a:xfrm>
            <a:off x="6350000" y="4089400"/>
            <a:ext cx="495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FCC66"/>
                </a:solidFill>
                <a:latin typeface="Aptos" panose="020B0004020202020204" pitchFamily="34" charset="0"/>
              </a:rPr>
              <a:t>Sınır ve sorumlu sunum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86207D-50F0-6D1F-52FC-F6FD9001F020}"/>
              </a:ext>
            </a:extLst>
          </p:cNvPr>
          <p:cNvSpPr txBox="1"/>
          <p:nvPr/>
        </p:nvSpPr>
        <p:spPr>
          <a:xfrm>
            <a:off x="6350000" y="4572000"/>
            <a:ext cx="4826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300">
                <a:solidFill>
                  <a:srgbClr val="F7FBFC"/>
                </a:solidFill>
                <a:latin typeface="Aptos" panose="020B0004020202020204" pitchFamily="34" charset="0"/>
              </a:rPr>
              <a:t>Bu metrikler insan doğrulaması tamamlanmış gold veri anlamına gelmez. Finansal koşullar kullanıcıya resmî kaynak ve doğrulama statüsüyle sunulur.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D4459E-5DC4-84F0-0C36-F2A17C1B99C4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1162E7-8C1D-0754-22E7-64CA74F211DD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5455D3-D41F-F108-4302-32572DACE610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1140571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5D0593-DC6F-A586-7364-EB75DC2F6B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FB91CD-D11E-3C1A-EDB8-0873D0C1FAF4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B27D5-9430-A6CB-D6D5-0E87DCEA0E9E}"/>
              </a:ext>
            </a:extLst>
          </p:cNvPr>
          <p:cNvSpPr txBox="1"/>
          <p:nvPr/>
        </p:nvSpPr>
        <p:spPr>
          <a:xfrm>
            <a:off x="609600" y="3175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20D0B2"/>
                </a:solidFill>
                <a:latin typeface="Aptos" panose="020B0004020202020204" pitchFamily="34" charset="0"/>
              </a:rPr>
              <a:t>TESLIM VE IŞLETIM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CD7C5-FB38-63B0-8E36-9FD35B061C5C}"/>
              </a:ext>
            </a:extLst>
          </p:cNvPr>
          <p:cNvSpPr txBox="1"/>
          <p:nvPr/>
        </p:nvSpPr>
        <p:spPr>
          <a:xfrm>
            <a:off x="609600" y="6223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000" b="1">
                <a:solidFill>
                  <a:srgbClr val="F7FBFC"/>
                </a:solidFill>
                <a:latin typeface="Aptos" panose="020B0004020202020204" pitchFamily="34" charset="0"/>
              </a:rPr>
              <a:t>Temiz klondan tekrarlanabilir kurulum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A00C6-C0D1-4395-A6FA-14885C303BD9}"/>
              </a:ext>
            </a:extLst>
          </p:cNvPr>
          <p:cNvSpPr txBox="1"/>
          <p:nvPr/>
        </p:nvSpPr>
        <p:spPr>
          <a:xfrm>
            <a:off x="609600" y="1244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Kod, veri, şema, model manifesti ve test hattı aynı sürüm sözleşmesiyle teslim edilir.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23E82-F684-BEED-D182-2A53CBC400F2}"/>
              </a:ext>
            </a:extLst>
          </p:cNvPr>
          <p:cNvSpPr txBox="1"/>
          <p:nvPr/>
        </p:nvSpPr>
        <p:spPr>
          <a:xfrm>
            <a:off x="11264900" y="3810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100">
                <a:solidFill>
                  <a:srgbClr val="A9C1CB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839128-87F5-7B5D-0E2E-A5238B65A257}"/>
              </a:ext>
            </a:extLst>
          </p:cNvPr>
          <p:cNvSpPr/>
          <p:nvPr/>
        </p:nvSpPr>
        <p:spPr>
          <a:xfrm>
            <a:off x="609600" y="1968500"/>
            <a:ext cx="3429000" cy="2540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87BEE3-6417-6DB2-8A15-E26A1799C8E0}"/>
              </a:ext>
            </a:extLst>
          </p:cNvPr>
          <p:cNvSpPr/>
          <p:nvPr/>
        </p:nvSpPr>
        <p:spPr>
          <a:xfrm>
            <a:off x="838200" y="2197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571AB5-0D13-A8BD-6D14-697957E79EBC}"/>
              </a:ext>
            </a:extLst>
          </p:cNvPr>
          <p:cNvSpPr txBox="1"/>
          <p:nvPr/>
        </p:nvSpPr>
        <p:spPr>
          <a:xfrm>
            <a:off x="838200" y="2286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F034D3-B730-4FE7-42EE-80FE67E86FF6}"/>
              </a:ext>
            </a:extLst>
          </p:cNvPr>
          <p:cNvSpPr txBox="1"/>
          <p:nvPr/>
        </p:nvSpPr>
        <p:spPr>
          <a:xfrm>
            <a:off x="1447800" y="2197100"/>
            <a:ext cx="2362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Kurulum sözleşmesi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746EA5-DD74-9BF1-D7D2-1D4D642F2FF2}"/>
              </a:ext>
            </a:extLst>
          </p:cNvPr>
          <p:cNvSpPr txBox="1"/>
          <p:nvPr/>
        </p:nvSpPr>
        <p:spPr>
          <a:xfrm>
            <a:off x="838200" y="2755900"/>
            <a:ext cx="29718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200">
                <a:solidFill>
                  <a:srgbClr val="A9C1CB"/>
                </a:solidFill>
                <a:latin typeface="Aptos" panose="020B0004020202020204" pitchFamily="34" charset="0"/>
              </a:rPr>
              <a:t>.env.example, sürümlü SQL migration, Docker Compose ve least-privilege DB rolü.</a:t>
            </a:r>
            <a:endParaRPr lang="tr-TR" sz="1200">
              <a:solidFill>
                <a:srgbClr val="A9C1C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B5E49D-E870-BF74-72C5-AFF3CAC0F654}"/>
              </a:ext>
            </a:extLst>
          </p:cNvPr>
          <p:cNvSpPr/>
          <p:nvPr/>
        </p:nvSpPr>
        <p:spPr>
          <a:xfrm>
            <a:off x="4381500" y="1968500"/>
            <a:ext cx="3429000" cy="2540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EBC3AC-7863-39FE-DD74-42498309D0FE}"/>
              </a:ext>
            </a:extLst>
          </p:cNvPr>
          <p:cNvSpPr/>
          <p:nvPr/>
        </p:nvSpPr>
        <p:spPr>
          <a:xfrm>
            <a:off x="4610100" y="2197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FE0B31-FC94-8BEC-AFBC-2EE4BBBFBDB3}"/>
              </a:ext>
            </a:extLst>
          </p:cNvPr>
          <p:cNvSpPr txBox="1"/>
          <p:nvPr/>
        </p:nvSpPr>
        <p:spPr>
          <a:xfrm>
            <a:off x="4610100" y="2286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49C11A-F634-F250-E417-F7A222E355E4}"/>
              </a:ext>
            </a:extLst>
          </p:cNvPr>
          <p:cNvSpPr txBox="1"/>
          <p:nvPr/>
        </p:nvSpPr>
        <p:spPr>
          <a:xfrm>
            <a:off x="5219700" y="2197100"/>
            <a:ext cx="2362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Model paketi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144B5F-390C-6B25-85E8-5560A31160F5}"/>
              </a:ext>
            </a:extLst>
          </p:cNvPr>
          <p:cNvSpPr txBox="1"/>
          <p:nvPr/>
        </p:nvSpPr>
        <p:spPr>
          <a:xfrm>
            <a:off x="4610100" y="2755900"/>
            <a:ext cx="2971800" cy="7904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tr-TR" sz="1200">
                <a:solidFill>
                  <a:srgbClr val="A9C1CB"/>
                </a:solidFill>
                <a:latin typeface="Aptos" panose="020B0004020202020204" pitchFamily="34" charset="0"/>
              </a:rPr>
              <a:t>Ağırlıklar sürümlü ZIP ve SHA-256 manifestiyle hazırdır; indirme URL'si yalnız başarılı release yüklemesinden sonra kaydedilir.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34B5776-54A7-3F9A-9440-FB1725624518}"/>
              </a:ext>
            </a:extLst>
          </p:cNvPr>
          <p:cNvSpPr/>
          <p:nvPr/>
        </p:nvSpPr>
        <p:spPr>
          <a:xfrm>
            <a:off x="8153400" y="1968500"/>
            <a:ext cx="3429000" cy="2540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9FAB53C-B5A0-EC53-D281-B37F1D7C6846}"/>
              </a:ext>
            </a:extLst>
          </p:cNvPr>
          <p:cNvSpPr/>
          <p:nvPr/>
        </p:nvSpPr>
        <p:spPr>
          <a:xfrm>
            <a:off x="8382000" y="2197100"/>
            <a:ext cx="431800" cy="4318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38258F-F00E-7949-22A9-77968AC42453}"/>
              </a:ext>
            </a:extLst>
          </p:cNvPr>
          <p:cNvSpPr txBox="1"/>
          <p:nvPr/>
        </p:nvSpPr>
        <p:spPr>
          <a:xfrm>
            <a:off x="8382000" y="2286000"/>
            <a:ext cx="431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200" b="1">
                <a:solidFill>
                  <a:srgbClr val="F7FBFC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F545E2-2C85-590D-6E7F-D298DA90873F}"/>
              </a:ext>
            </a:extLst>
          </p:cNvPr>
          <p:cNvSpPr txBox="1"/>
          <p:nvPr/>
        </p:nvSpPr>
        <p:spPr>
          <a:xfrm>
            <a:off x="8991600" y="2197100"/>
            <a:ext cx="2362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 b="1">
                <a:solidFill>
                  <a:srgbClr val="F7FBFC"/>
                </a:solidFill>
                <a:latin typeface="Aptos" panose="020B0004020202020204" pitchFamily="34" charset="0"/>
              </a:rPr>
              <a:t>Otomatik kalite kapısı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27FACE-5C68-AC6D-5508-6F10AAF744F1}"/>
              </a:ext>
            </a:extLst>
          </p:cNvPr>
          <p:cNvSpPr txBox="1"/>
          <p:nvPr/>
        </p:nvSpPr>
        <p:spPr>
          <a:xfrm>
            <a:off x="8382000" y="2755900"/>
            <a:ext cx="2971800" cy="590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200">
                <a:solidFill>
                  <a:srgbClr val="A9C1CB"/>
                </a:solidFill>
                <a:latin typeface="Aptos" panose="020B0004020202020204" pitchFamily="34" charset="0"/>
              </a:rPr>
              <a:t>Windows/Linux frontend lint, typecheck, test ve build; backend unit + migration smoke; bağımlılık audit.</a:t>
            </a:r>
            <a:endParaRPr lang="tr-TR" sz="1200">
              <a:solidFill>
                <a:srgbClr val="A9C1C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C9483C-8D81-E782-B20D-8B1FED535C2E}"/>
              </a:ext>
            </a:extLst>
          </p:cNvPr>
          <p:cNvSpPr/>
          <p:nvPr/>
        </p:nvSpPr>
        <p:spPr>
          <a:xfrm>
            <a:off x="609600" y="4953000"/>
            <a:ext cx="10972800" cy="1016000"/>
          </a:xfrm>
          <a:prstGeom prst="round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FCF259-7AD6-C486-69BB-C30E661ADAD5}"/>
              </a:ext>
            </a:extLst>
          </p:cNvPr>
          <p:cNvSpPr txBox="1"/>
          <p:nvPr/>
        </p:nvSpPr>
        <p:spPr>
          <a:xfrm>
            <a:off x="1016000" y="5232400"/>
            <a:ext cx="1016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2000" b="1">
                <a:solidFill>
                  <a:srgbClr val="F7FBFC"/>
                </a:solidFill>
                <a:latin typeface="Aptos" panose="020B0004020202020204" pitchFamily="34" charset="0"/>
              </a:rPr>
              <a:t>Teslim referansı: BilisimVadisi2026 etiketi → doğrulanmış final commit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976535-4D64-CEAC-3E5E-92390238108C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B50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FD9107-2BF6-935F-9BFB-E9F390C051F1}"/>
              </a:ext>
            </a:extLst>
          </p:cNvPr>
          <p:cNvSpPr txBox="1"/>
          <p:nvPr/>
        </p:nvSpPr>
        <p:spPr>
          <a:xfrm>
            <a:off x="609600" y="6553200"/>
            <a:ext cx="711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HititFinLex · TEKNOFEST 2026 · #BilisimVadisi2026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B5702C-2D40-D0EA-5170-E5558CD005F8}"/>
              </a:ext>
            </a:extLst>
          </p:cNvPr>
          <p:cNvSpPr txBox="1"/>
          <p:nvPr/>
        </p:nvSpPr>
        <p:spPr>
          <a:xfrm>
            <a:off x="8890000" y="65532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</a:t>
            </a:r>
          </a:p>
        </p:txBody>
      </p:sp>
    </p:spTree>
    <p:extLst>
      <p:ext uri="{BB962C8B-B14F-4D97-AF65-F5344CB8AC3E}">
        <p14:creationId xmlns:p14="http://schemas.microsoft.com/office/powerpoint/2010/main" val="1852500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AD505B-40A4-5EC9-56AF-CCEC85269F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C692E2-463D-BC72-DDB3-4FFCB6D01B6B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9AD7F-30A8-06E5-8E73-329459D359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9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E5C689-85B0-704F-783E-6DEE113E352F}"/>
              </a:ext>
            </a:extLst>
          </p:cNvPr>
          <p:cNvSpPr/>
          <p:nvPr/>
        </p:nvSpPr>
        <p:spPr>
          <a:xfrm>
            <a:off x="1016000" y="889000"/>
            <a:ext cx="10160000" cy="5080000"/>
          </a:xfrm>
          <a:prstGeom prst="round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AAAA4-A4BC-4F70-D607-385904BCDD11}"/>
              </a:ext>
            </a:extLst>
          </p:cNvPr>
          <p:cNvSpPr txBox="1"/>
          <p:nvPr/>
        </p:nvSpPr>
        <p:spPr>
          <a:xfrm>
            <a:off x="1651000" y="13970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300" b="1">
                <a:solidFill>
                  <a:srgbClr val="20D0B2"/>
                </a:solidFill>
                <a:latin typeface="Aptos" panose="020B0004020202020204" pitchFamily="34" charset="0"/>
              </a:rPr>
              <a:t>HITITFINLEX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E2B81E-CFE5-5C92-1068-6A5D64FDECCF}"/>
              </a:ext>
            </a:extLst>
          </p:cNvPr>
          <p:cNvSpPr txBox="1"/>
          <p:nvPr/>
        </p:nvSpPr>
        <p:spPr>
          <a:xfrm>
            <a:off x="1651000" y="1968500"/>
            <a:ext cx="8890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4000" b="1">
                <a:solidFill>
                  <a:srgbClr val="F7FBFC"/>
                </a:solidFill>
                <a:latin typeface="Aptos" panose="020B0004020202020204" pitchFamily="34" charset="0"/>
              </a:rPr>
              <a:t>Finansal bilgiye
kaynağıyla güvenin.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E36B8-66CF-B76E-B567-F0BA20304D75}"/>
              </a:ext>
            </a:extLst>
          </p:cNvPr>
          <p:cNvSpPr txBox="1"/>
          <p:nvPr/>
        </p:nvSpPr>
        <p:spPr>
          <a:xfrm>
            <a:off x="1651000" y="36195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>
                <a:solidFill>
                  <a:srgbClr val="75E6D2"/>
                </a:solidFill>
                <a:latin typeface="Aptos" panose="020B0004020202020204" pitchFamily="34" charset="0"/>
              </a:rPr>
              <a:t>Yerel · Kaynaklı · Tarihsel · Denetlenebilir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99719-A235-1C92-8317-55F4DF619174}"/>
              </a:ext>
            </a:extLst>
          </p:cNvPr>
          <p:cNvSpPr txBox="1"/>
          <p:nvPr/>
        </p:nvSpPr>
        <p:spPr>
          <a:xfrm>
            <a:off x="1651000" y="4318000"/>
            <a:ext cx="889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400">
                <a:solidFill>
                  <a:srgbClr val="F7FBFC"/>
                </a:solidFill>
                <a:latin typeface="Aptos" panose="020B0004020202020204" pitchFamily="34" charset="0"/>
              </a:rPr>
              <a:t>github.com/abdulkadiripek/HititFinLex-Teknofest2026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EC415-9286-69DB-3F4D-4FE5D10F40D0}"/>
              </a:ext>
            </a:extLst>
          </p:cNvPr>
          <p:cNvSpPr txBox="1"/>
          <p:nvPr/>
        </p:nvSpPr>
        <p:spPr>
          <a:xfrm>
            <a:off x="1651000" y="5016500"/>
            <a:ext cx="889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700" b="1">
                <a:solidFill>
                  <a:srgbClr val="A9C1CB"/>
                </a:solidFill>
                <a:latin typeface="Aptos" panose="020B0004020202020204" pitchFamily="34" charset="0"/>
              </a:rPr>
              <a:t>Teşekkürler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B9911-99B0-6F70-72A3-9AA03CE5CFC7}"/>
              </a:ext>
            </a:extLst>
          </p:cNvPr>
          <p:cNvSpPr txBox="1"/>
          <p:nvPr/>
        </p:nvSpPr>
        <p:spPr>
          <a:xfrm>
            <a:off x="11264900" y="6350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tr-TR" sz="1000" b="1">
                <a:solidFill>
                  <a:srgbClr val="071B2D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40384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1068</Words>
  <Application>Microsoft Office PowerPoint</Application>
  <PresentationFormat>Custom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HititFinLex TEKNOFEST 2026 Sunumu</dc:title>
  <dc:creator>HititFinLex Takımı</dc:creator>
  <cp:lastModifiedBy>HititFinLex Takımı</cp:lastModifiedBy>
  <cp:revision>1</cp:revision>
  <dcterms:created xsi:type="dcterms:W3CDTF">2026-08-27T12:56:57Z</dcterms:created>
  <dcterms:modified xsi:type="dcterms:W3CDTF">2026-08-27T12:56:57Z</dcterms:modified>
  <dc:subject>Yapay Zekâ Dil Ajanları Yarışması · 2. Senaryo</dc:subject>
  <dc:description>HititFinLex Takımı tarafından TEKNOFEST 2026 teslimi için üretildi.</dc:description>
  <cp:keywords>HititFinLex, TEKNOFEST 2026, katılım finansı, NLP, RAG</cp:keywords>
</cp:coreProperties>
</file>