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10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D7A88-5BCD-CB21-4C5F-62DD8B865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3698D8-CF4C-75C1-1CF4-41F298E01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D0402-1BA5-B621-0C4E-E37A9FD3B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28F95-EDB5-4BE2-B12E-5721081EC0FD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D18B0-582B-764A-8A63-4638382D4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6452-1464-140C-C773-DC593D5F9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444D-D552-483D-99DB-B54C093285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1011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26EB-4BBA-542D-DEBA-086099C5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8338B-3572-22EC-B55D-2B1C2D2F8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EDA5C-3FCA-F293-28D5-AAA517AF0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28F95-EDB5-4BE2-B12E-5721081EC0FD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B90FA-75D8-D983-E36D-B7AD188B4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8D8B2-96D5-CD34-6F34-905FDD0BE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444D-D552-483D-99DB-B54C093285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2708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E1084-BA0E-DFE3-39C6-ADE2D7CE9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12A0D-A94C-201D-405F-C5A85FAAC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46DFE-3F32-CE1D-6BE2-7C734CBC4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28F95-EDB5-4BE2-B12E-5721081EC0FD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83606-CD6D-2AC5-7AE9-EB1EB1858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AD059-395A-6672-7B12-B8A216D5A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444D-D552-483D-99DB-B54C093285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8856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E44ED-A739-B435-86E5-F3CED9AB3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E2304-8412-CEB7-33C6-61A3E1B47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D58FD-1FE3-940C-7F31-1AD7EE110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33D87-17F3-6752-0906-14203D56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28F95-EDB5-4BE2-B12E-5721081EC0FD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AE35A-25E2-89FB-7B7E-16522A145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2C773-B519-0942-A609-FE318ED8B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444D-D552-483D-99DB-B54C093285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7653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4DA49-4D3E-3F75-849B-E0A9FA6F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A1B8C-1173-F560-9C62-2A0ED2A3C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BD27FC-AD0A-44A3-D655-ED150A084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3CB7F9-0D04-B847-3959-74E6ECFCFC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CA6835-624B-01C3-86F5-F28127AA5B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FA0C60-C545-AFFC-2621-7A0FB7318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28F95-EDB5-4BE2-B12E-5721081EC0FD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888CEC-C0A4-50EC-E59F-2F59055AF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C2E94-838F-85E5-DEB6-942583D8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444D-D552-483D-99DB-B54C093285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402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69153-47FB-C38A-E593-8860AA76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F1A514-5D8A-9105-A550-82169F70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28F95-EDB5-4BE2-B12E-5721081EC0FD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C2700-8B98-B86F-0869-1F34A8C60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0F693-022C-1D06-DA1D-3B3D5229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444D-D552-483D-99DB-B54C093285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596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16F6D2-C692-0BB4-8BDC-B2DC74B9B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28F95-EDB5-4BE2-B12E-5721081EC0FD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6116EE-044A-C92A-3EF8-E6169580E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0A975-691B-C157-8F45-400B2983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444D-D552-483D-99DB-B54C093285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729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E5D9B-CF7D-3F41-376A-85EF5F0F2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2361F-C15C-CDCE-7783-1E0F58DC4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37276-0C24-699F-7C07-EDCEF732F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227CD-6FFF-2F56-5853-ED973D3F3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28F95-EDB5-4BE2-B12E-5721081EC0FD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62BAD-B918-A8FF-82AD-F1C539912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1D4EB-54D5-306D-9DA0-9B126BD4F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444D-D552-483D-99DB-B54C093285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0291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BA1AA-C4AB-32E5-0BB3-00ECC4BE1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0F2088-4D27-6093-2D72-CCFC19F241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039699-41D3-82FC-231F-23DF98E31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C3A0A-4182-7D13-5E96-B9A3C1877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28F95-EDB5-4BE2-B12E-5721081EC0FD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F3465-0E6B-32DA-F69E-3536E6516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FC524-9A4F-96E1-00AE-D5BE28751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444D-D552-483D-99DB-B54C093285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5686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AB92C-FB09-206E-5C59-5AD36EE80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E944A-D5CF-3014-2266-5B5994D7C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A6EAD-6AF0-8067-68AB-464331332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28F95-EDB5-4BE2-B12E-5721081EC0FD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4078A-8F5F-CB13-256A-3C000B5B8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EB996-8B4B-87C7-7436-6CB4A52E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444D-D552-483D-99DB-B54C093285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2884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074AD1-F8EF-FC70-2661-1C72255D7B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0E6B1-CE4B-42C9-84DE-7083A37B8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84739-702C-1969-11F8-BA8A403BF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28F95-EDB5-4BE2-B12E-5721081EC0FD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5A8D2-ABA9-4902-516F-36525B849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2C5CB-6AAC-C4CA-5069-AE2F71BA5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444D-D552-483D-99DB-B54C093285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4219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FAC3D5-ADD8-6B8B-1BF6-40963397A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804E1-1DFE-0F12-FE12-C21D15EBB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E3A1D-F292-DC2D-10C3-603A4FAB0E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A28F95-EDB5-4BE2-B12E-5721081EC0FD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13C67-2CD4-DB2E-0E46-574BC2187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ED923-F224-01C9-9F05-3EFEE408B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F2444D-D552-483D-99DB-B54C093285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82322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6645E3-56A9-DB5D-43C3-2C7839429C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76D98C-5ABD-5CC9-3681-96FDF796CC0C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964FA3-CD6C-9BCC-1611-28D1198DA8CF}"/>
              </a:ext>
            </a:extLst>
          </p:cNvPr>
          <p:cNvSpPr txBox="1"/>
          <p:nvPr/>
        </p:nvSpPr>
        <p:spPr>
          <a:xfrm>
            <a:off x="1016000" y="1016000"/>
            <a:ext cx="1016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400" b="1">
                <a:solidFill>
                  <a:srgbClr val="20D0B2"/>
                </a:solidFill>
                <a:latin typeface="Aptos" panose="020B0004020202020204" pitchFamily="34" charset="0"/>
              </a:rPr>
              <a:t>HITITFINLEX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4CDB7-44B6-E615-6429-9D00D10082E1}"/>
              </a:ext>
            </a:extLst>
          </p:cNvPr>
          <p:cNvSpPr txBox="1"/>
          <p:nvPr/>
        </p:nvSpPr>
        <p:spPr>
          <a:xfrm>
            <a:off x="1016000" y="1841500"/>
            <a:ext cx="10160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4200" b="1">
                <a:solidFill>
                  <a:srgbClr val="F7FBFC"/>
                </a:solidFill>
                <a:latin typeface="Aptos" panose="020B0004020202020204" pitchFamily="34" charset="0"/>
              </a:rPr>
              <a:t>80 saniyede teknik demo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FB9718-3D05-9999-2A3E-740589C69B24}"/>
              </a:ext>
            </a:extLst>
          </p:cNvPr>
          <p:cNvSpPr txBox="1"/>
          <p:nvPr/>
        </p:nvSpPr>
        <p:spPr>
          <a:xfrm>
            <a:off x="1270000" y="3048000"/>
            <a:ext cx="965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900">
                <a:solidFill>
                  <a:srgbClr val="A9C1CB"/>
                </a:solidFill>
                <a:latin typeface="Aptos" panose="020B0004020202020204" pitchFamily="34" charset="0"/>
              </a:rPr>
              <a:t>Güncel + tarihsel veri · Kaynaklı karşılaştırma · Yerel RAG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102558-FF0B-4235-6806-5D47D0A4E062}"/>
              </a:ext>
            </a:extLst>
          </p:cNvPr>
          <p:cNvSpPr txBox="1"/>
          <p:nvPr/>
        </p:nvSpPr>
        <p:spPr>
          <a:xfrm>
            <a:off x="1270000" y="4381500"/>
            <a:ext cx="965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500" b="1">
                <a:solidFill>
                  <a:srgbClr val="75E6D2"/>
                </a:solidFill>
                <a:latin typeface="Aptos" panose="020B0004020202020204" pitchFamily="34" charset="0"/>
              </a:rPr>
              <a:t>#BilisimVadisi2026</a:t>
            </a:r>
          </a:p>
        </p:txBody>
      </p:sp>
    </p:spTree>
    <p:extLst>
      <p:ext uri="{BB962C8B-B14F-4D97-AF65-F5344CB8AC3E}">
        <p14:creationId xmlns:p14="http://schemas.microsoft.com/office/powerpoint/2010/main" val="3016764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43A6F7-343C-E3D7-04C3-9F79457362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E27F92-5B0B-CC53-15CC-F63379C4131B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490723-BA87-5901-2D0F-29F567533965}"/>
              </a:ext>
            </a:extLst>
          </p:cNvPr>
          <p:cNvSpPr txBox="1"/>
          <p:nvPr/>
        </p:nvSpPr>
        <p:spPr>
          <a:xfrm>
            <a:off x="609600" y="444500"/>
            <a:ext cx="10972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900" b="1">
                <a:solidFill>
                  <a:srgbClr val="F7FBFC"/>
                </a:solidFill>
                <a:latin typeface="Aptos" panose="020B0004020202020204" pitchFamily="34" charset="0"/>
              </a:rPr>
              <a:t>1 · Sistem panoraması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91DE62-BA3A-3774-8491-BE491B8B654B}"/>
              </a:ext>
            </a:extLst>
          </p:cNvPr>
          <p:cNvSpPr txBox="1"/>
          <p:nvPr/>
        </p:nvSpPr>
        <p:spPr>
          <a:xfrm>
            <a:off x="609600" y="1041400"/>
            <a:ext cx="10972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>
                <a:solidFill>
                  <a:srgbClr val="A9C1CB"/>
                </a:solidFill>
                <a:latin typeface="Aptos" panose="020B0004020202020204" pitchFamily="34" charset="0"/>
              </a:rPr>
              <a:t>Canlı API, yerel GPU ve güncel/tarihsel veri kapsamı tek bakışta.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816D3D-4D3F-84AB-CC64-115D8102B607}"/>
              </a:ext>
            </a:extLst>
          </p:cNvPr>
          <p:cNvSpPr/>
          <p:nvPr/>
        </p:nvSpPr>
        <p:spPr>
          <a:xfrm>
            <a:off x="609600" y="1651000"/>
            <a:ext cx="10972800" cy="452120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188B7B-6326-820A-471D-A9FD43C4D04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1778000"/>
            <a:ext cx="10718800" cy="426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35710B-305B-42BC-D07A-6B155E320819}"/>
              </a:ext>
            </a:extLst>
          </p:cNvPr>
          <p:cNvSpPr txBox="1"/>
          <p:nvPr/>
        </p:nvSpPr>
        <p:spPr>
          <a:xfrm>
            <a:off x="609600" y="6451600"/>
            <a:ext cx="10972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Finansal tavsiye değildir · Sonuçlar resmî kaynakları ve doğrulama statüsünü içerir.</a:t>
            </a:r>
          </a:p>
        </p:txBody>
      </p:sp>
    </p:spTree>
    <p:extLst>
      <p:ext uri="{BB962C8B-B14F-4D97-AF65-F5344CB8AC3E}">
        <p14:creationId xmlns:p14="http://schemas.microsoft.com/office/powerpoint/2010/main" val="1482878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2000"/>
    </mc:Choice>
    <mc:Fallback>
      <p:transition spd="slow" advClick="0" advTm="1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82FA85-96B2-9E7A-D63C-651AED944F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FEA26D-684B-66BC-EC19-E845B2A6F552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079BD-5EC4-8BEF-B026-E579AE1DCD1D}"/>
              </a:ext>
            </a:extLst>
          </p:cNvPr>
          <p:cNvSpPr txBox="1"/>
          <p:nvPr/>
        </p:nvSpPr>
        <p:spPr>
          <a:xfrm>
            <a:off x="609600" y="444500"/>
            <a:ext cx="10972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900" b="1">
                <a:solidFill>
                  <a:srgbClr val="F7FBFC"/>
                </a:solidFill>
                <a:latin typeface="Aptos" panose="020B0004020202020204" pitchFamily="34" charset="0"/>
              </a:rPr>
              <a:t>2 · Akıllı katalog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819F5D-EE7E-71FF-B765-F9BC0CEFA42F}"/>
              </a:ext>
            </a:extLst>
          </p:cNvPr>
          <p:cNvSpPr txBox="1"/>
          <p:nvPr/>
        </p:nvSpPr>
        <p:spPr>
          <a:xfrm>
            <a:off x="609600" y="1041400"/>
            <a:ext cx="10972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>
                <a:solidFill>
                  <a:srgbClr val="A9C1CB"/>
                </a:solidFill>
                <a:latin typeface="Aptos" panose="020B0004020202020204" pitchFamily="34" charset="0"/>
              </a:rPr>
              <a:t>Banka, ürün, dönem, güven ve bilgi kapsamıyla 3.351 kaydı keşfedin.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79333B-5EEB-A4DC-065E-A8B0167CD41C}"/>
              </a:ext>
            </a:extLst>
          </p:cNvPr>
          <p:cNvSpPr/>
          <p:nvPr/>
        </p:nvSpPr>
        <p:spPr>
          <a:xfrm>
            <a:off x="609600" y="1651000"/>
            <a:ext cx="10972800" cy="452120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A93C7C-7075-2F62-52AB-FF0795F1907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1778000"/>
            <a:ext cx="10718800" cy="426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5E9048-F01B-CCE3-6DD1-FF26827A3D5A}"/>
              </a:ext>
            </a:extLst>
          </p:cNvPr>
          <p:cNvSpPr txBox="1"/>
          <p:nvPr/>
        </p:nvSpPr>
        <p:spPr>
          <a:xfrm>
            <a:off x="609600" y="6451600"/>
            <a:ext cx="10972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Finansal tavsiye değildir · Sonuçlar resmî kaynakları ve doğrulama statüsünü içerir.</a:t>
            </a:r>
          </a:p>
        </p:txBody>
      </p:sp>
    </p:spTree>
    <p:extLst>
      <p:ext uri="{BB962C8B-B14F-4D97-AF65-F5344CB8AC3E}">
        <p14:creationId xmlns:p14="http://schemas.microsoft.com/office/powerpoint/2010/main" val="3384923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2000"/>
    </mc:Choice>
    <mc:Fallback>
      <p:transition spd="slow" advClick="0" advTm="1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5D9943-CB5B-3B58-AA9C-F50CE700A9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94E01A-59CA-680F-334E-7BEF4FEE3289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484E27-49A2-ACF7-C9C7-1B4D40ACD001}"/>
              </a:ext>
            </a:extLst>
          </p:cNvPr>
          <p:cNvSpPr txBox="1"/>
          <p:nvPr/>
        </p:nvSpPr>
        <p:spPr>
          <a:xfrm>
            <a:off x="609600" y="444500"/>
            <a:ext cx="10972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900" b="1">
                <a:solidFill>
                  <a:srgbClr val="F7FBFC"/>
                </a:solidFill>
                <a:latin typeface="Aptos" panose="020B0004020202020204" pitchFamily="34" charset="0"/>
              </a:rPr>
              <a:t>3 · Kaynaklı karşılaştırma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129C54-DD9A-C566-D3E8-7D080E239D35}"/>
              </a:ext>
            </a:extLst>
          </p:cNvPr>
          <p:cNvSpPr txBox="1"/>
          <p:nvPr/>
        </p:nvSpPr>
        <p:spPr>
          <a:xfrm>
            <a:off x="609600" y="1041400"/>
            <a:ext cx="10972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>
                <a:solidFill>
                  <a:srgbClr val="A9C1CB"/>
                </a:solidFill>
                <a:latin typeface="Aptos" panose="020B0004020202020204" pitchFamily="34" charset="0"/>
              </a:rPr>
              <a:t>Koşulları banka bazında yan yana görün; her değer kendi kanıtına bağlıdır.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235E5D-7713-DF63-2EA2-62C1223C92FC}"/>
              </a:ext>
            </a:extLst>
          </p:cNvPr>
          <p:cNvSpPr/>
          <p:nvPr/>
        </p:nvSpPr>
        <p:spPr>
          <a:xfrm>
            <a:off x="609600" y="1651000"/>
            <a:ext cx="10972800" cy="452120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EEE6CE-6E90-B2AC-B82D-EF4E75876F7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1778000"/>
            <a:ext cx="10718800" cy="426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73FF49-31A9-932A-BFE0-B4423647D893}"/>
              </a:ext>
            </a:extLst>
          </p:cNvPr>
          <p:cNvSpPr txBox="1"/>
          <p:nvPr/>
        </p:nvSpPr>
        <p:spPr>
          <a:xfrm>
            <a:off x="609600" y="6451600"/>
            <a:ext cx="10972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Finansal tavsiye değildir · Sonuçlar resmî kaynakları ve doğrulama statüsünü içerir.</a:t>
            </a:r>
          </a:p>
        </p:txBody>
      </p:sp>
    </p:spTree>
    <p:extLst>
      <p:ext uri="{BB962C8B-B14F-4D97-AF65-F5344CB8AC3E}">
        <p14:creationId xmlns:p14="http://schemas.microsoft.com/office/powerpoint/2010/main" val="851293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000"/>
    </mc:Choice>
    <mc:Fallback>
      <p:transition spd="slow" advClick="0" advTm="14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6279BF-5D55-60B0-6DEC-1951B4DED8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82AE5B-F5F8-EF0D-E10C-873652A3080E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E159F5-28D2-1A95-A137-F42F798BC193}"/>
              </a:ext>
            </a:extLst>
          </p:cNvPr>
          <p:cNvSpPr txBox="1"/>
          <p:nvPr/>
        </p:nvSpPr>
        <p:spPr>
          <a:xfrm>
            <a:off x="609600" y="444500"/>
            <a:ext cx="10972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900" b="1">
                <a:solidFill>
                  <a:srgbClr val="F7FBFC"/>
                </a:solidFill>
                <a:latin typeface="Aptos" panose="020B0004020202020204" pitchFamily="34" charset="0"/>
              </a:rPr>
              <a:t>4 · Yerel RAG asistanı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D5C5B8-53AC-110C-B90F-2BFDBDD8E89F}"/>
              </a:ext>
            </a:extLst>
          </p:cNvPr>
          <p:cNvSpPr txBox="1"/>
          <p:nvPr/>
        </p:nvSpPr>
        <p:spPr>
          <a:xfrm>
            <a:off x="609600" y="1041400"/>
            <a:ext cx="10972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>
                <a:solidFill>
                  <a:srgbClr val="A9C1CB"/>
                </a:solidFill>
                <a:latin typeface="Aptos" panose="020B0004020202020204" pitchFamily="34" charset="0"/>
              </a:rPr>
              <a:t>BGE-M3 hibrit arama ve Qwen ile resmî kaynaklardan dipnotlu yanıt alın.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41B0AE-0F77-9CCD-6550-BD3208574807}"/>
              </a:ext>
            </a:extLst>
          </p:cNvPr>
          <p:cNvSpPr/>
          <p:nvPr/>
        </p:nvSpPr>
        <p:spPr>
          <a:xfrm>
            <a:off x="609600" y="1651000"/>
            <a:ext cx="10972800" cy="452120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9717B4-7AA0-84A0-59A0-4391A93469D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1778000"/>
            <a:ext cx="10718800" cy="426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4CF781-BCBA-103A-5F3A-7076F70F00C1}"/>
              </a:ext>
            </a:extLst>
          </p:cNvPr>
          <p:cNvSpPr txBox="1"/>
          <p:nvPr/>
        </p:nvSpPr>
        <p:spPr>
          <a:xfrm>
            <a:off x="609600" y="6451600"/>
            <a:ext cx="10972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Finansal tavsiye değildir · Sonuçlar resmî kaynakları ve doğrulama statüsünü içerir.</a:t>
            </a:r>
          </a:p>
        </p:txBody>
      </p:sp>
    </p:spTree>
    <p:extLst>
      <p:ext uri="{BB962C8B-B14F-4D97-AF65-F5344CB8AC3E}">
        <p14:creationId xmlns:p14="http://schemas.microsoft.com/office/powerpoint/2010/main" val="2619851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000"/>
    </mc:Choice>
    <mc:Fallback>
      <p:transition spd="slow" advClick="0" advTm="14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7F4966-565A-93D9-77A4-693F716405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168AE3-6588-8804-9853-F06883A6E5EF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D0E5A-E947-523B-C95B-0EFE2FB96A9B}"/>
              </a:ext>
            </a:extLst>
          </p:cNvPr>
          <p:cNvSpPr txBox="1"/>
          <p:nvPr/>
        </p:nvSpPr>
        <p:spPr>
          <a:xfrm>
            <a:off x="609600" y="444500"/>
            <a:ext cx="10972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900" b="1">
                <a:solidFill>
                  <a:srgbClr val="F7FBFC"/>
                </a:solidFill>
                <a:latin typeface="Aptos" panose="020B0004020202020204" pitchFamily="34" charset="0"/>
              </a:rPr>
              <a:t>5 · Veri kalitesi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B43FB-AA1B-E64B-0021-B8380C1B3BAD}"/>
              </a:ext>
            </a:extLst>
          </p:cNvPr>
          <p:cNvSpPr txBox="1"/>
          <p:nvPr/>
        </p:nvSpPr>
        <p:spPr>
          <a:xfrm>
            <a:off x="609600" y="1041400"/>
            <a:ext cx="10972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>
                <a:solidFill>
                  <a:srgbClr val="A9C1CB"/>
                </a:solidFill>
                <a:latin typeface="Aptos" panose="020B0004020202020204" pitchFamily="34" charset="0"/>
              </a:rPr>
              <a:t>Silver/model çıkarımı, güven ve insan inceleme durumu açıkça görünür.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4E863C8-81C6-E878-298D-7CD56A1C6616}"/>
              </a:ext>
            </a:extLst>
          </p:cNvPr>
          <p:cNvSpPr/>
          <p:nvPr/>
        </p:nvSpPr>
        <p:spPr>
          <a:xfrm>
            <a:off x="609600" y="1651000"/>
            <a:ext cx="10972800" cy="4521200"/>
          </a:xfrm>
          <a:prstGeom prst="roundRect">
            <a:avLst/>
          </a:prstGeom>
          <a:solidFill>
            <a:srgbClr val="0E2A3C"/>
          </a:solidFill>
          <a:ln w="12700">
            <a:solidFill>
              <a:srgbClr val="2B50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1E4F76-0D94-3B57-FDD5-C2B0EE9BC18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1778000"/>
            <a:ext cx="10718800" cy="426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54346D-FD31-04DC-3C92-572AED27A777}"/>
              </a:ext>
            </a:extLst>
          </p:cNvPr>
          <p:cNvSpPr txBox="1"/>
          <p:nvPr/>
        </p:nvSpPr>
        <p:spPr>
          <a:xfrm>
            <a:off x="609600" y="6451600"/>
            <a:ext cx="10972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900">
                <a:solidFill>
                  <a:srgbClr val="A9C1CB"/>
                </a:solidFill>
                <a:latin typeface="Aptos" panose="020B0004020202020204" pitchFamily="34" charset="0"/>
              </a:rPr>
              <a:t>Finansal tavsiye değildir · Sonuçlar resmî kaynakları ve doğrulama statüsünü içerir.</a:t>
            </a:r>
          </a:p>
        </p:txBody>
      </p:sp>
    </p:spTree>
    <p:extLst>
      <p:ext uri="{BB962C8B-B14F-4D97-AF65-F5344CB8AC3E}">
        <p14:creationId xmlns:p14="http://schemas.microsoft.com/office/powerpoint/2010/main" val="1213005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2000"/>
    </mc:Choice>
    <mc:Fallback>
      <p:transition spd="slow" advClick="0" advTm="1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1D8EB1-A05C-F8D6-7138-F937CEC370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AA7501-A7C0-F963-F7AE-DABB43932066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0D0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45A6D-490C-65E5-E5AE-84DF233E99C3}"/>
              </a:ext>
            </a:extLst>
          </p:cNvPr>
          <p:cNvSpPr txBox="1"/>
          <p:nvPr/>
        </p:nvSpPr>
        <p:spPr>
          <a:xfrm>
            <a:off x="1016000" y="1968500"/>
            <a:ext cx="10160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4000" b="1">
                <a:solidFill>
                  <a:srgbClr val="F7FBFC"/>
                </a:solidFill>
                <a:latin typeface="Aptos" panose="020B0004020202020204" pitchFamily="34" charset="0"/>
              </a:rPr>
              <a:t>Kaynağıyla karar desteği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2D39A5-5CB7-BF9D-76E9-2ECAB5F8290A}"/>
              </a:ext>
            </a:extLst>
          </p:cNvPr>
          <p:cNvSpPr txBox="1"/>
          <p:nvPr/>
        </p:nvSpPr>
        <p:spPr>
          <a:xfrm>
            <a:off x="1016000" y="3111500"/>
            <a:ext cx="10160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900">
                <a:solidFill>
                  <a:srgbClr val="75E6D2"/>
                </a:solidFill>
                <a:latin typeface="Aptos" panose="020B0004020202020204" pitchFamily="34" charset="0"/>
              </a:rPr>
              <a:t>HititFinLex · Yerel · Kaynaklı · Denetlenebilir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D80BBB-DACA-04E6-8B41-8F471BD128BB}"/>
              </a:ext>
            </a:extLst>
          </p:cNvPr>
          <p:cNvSpPr txBox="1"/>
          <p:nvPr/>
        </p:nvSpPr>
        <p:spPr>
          <a:xfrm>
            <a:off x="1016000" y="4191000"/>
            <a:ext cx="1016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tr-TR" sz="1400">
                <a:solidFill>
                  <a:srgbClr val="A9C1CB"/>
                </a:solidFill>
                <a:latin typeface="Aptos" panose="020B0004020202020204" pitchFamily="34" charset="0"/>
              </a:rPr>
              <a:t>github.com/abdulkadiripek/HititFinLex-Teknofest2026</a:t>
            </a:r>
          </a:p>
        </p:txBody>
      </p:sp>
    </p:spTree>
    <p:extLst>
      <p:ext uri="{BB962C8B-B14F-4D97-AF65-F5344CB8AC3E}">
        <p14:creationId xmlns:p14="http://schemas.microsoft.com/office/powerpoint/2010/main" val="434013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Custom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HititFinLex 80 Saniyelik Teknik Demo</dc:title>
  <dc:creator>HititFinLex Takımı</dc:creator>
  <cp:lastModifiedBy>HititFinLex Takımı</cp:lastModifiedBy>
  <cp:revision>1</cp:revision>
  <dcterms:created xsi:type="dcterms:W3CDTF">2026-08-27T12:56:59Z</dcterms:created>
  <dcterms:modified xsi:type="dcterms:W3CDTF">2026-08-27T12:56:59Z</dcterms:modified>
  <dc:subject>Kaynaklı katılım finansı karar desteği demosu</dc:subject>
  <dc:description>HititFinLex Takımı tarafından TEKNOFEST 2026 teslimi için üretildi.</dc:description>
  <cp:keywords>HititFinLex, TEKNOFEST 2026, katılım finansı, NLP, RAG</cp:keywords>
</cp:coreProperties>
</file>